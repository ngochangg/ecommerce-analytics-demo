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embeddedFontLst>
    <p:embeddedFont>
      <p:font typeface="Inter"/>
      <p:bold r:id="rId26"/>
      <p:boldItalic r:id="rId27"/>
    </p:embeddedFont>
    <p:embeddedFont>
      <p:font typeface="Be Vietnam Pro SemiBold"/>
      <p:regular r:id="rId28"/>
      <p:bold r:id="rId29"/>
      <p:italic r:id="rId30"/>
      <p:boldItalic r:id="rId31"/>
    </p:embeddedFont>
    <p:embeddedFont>
      <p:font typeface="Be Vietnam Pro"/>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F6D2D1-A592-4978-8324-EACD4D85C9CA}">
  <a:tblStyle styleId="{FCF6D2D1-A592-4978-8324-EACD4D85C9C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bold.fntdata"/><Relationship Id="rId25" Type="http://schemas.openxmlformats.org/officeDocument/2006/relationships/slide" Target="slides/slide19.xml"/><Relationship Id="rId28" Type="http://schemas.openxmlformats.org/officeDocument/2006/relationships/font" Target="fonts/BeVietnamProSemiBold-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eVietnamPro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eVietnamProSemiBold-boldItalic.fntdata"/><Relationship Id="rId30" Type="http://schemas.openxmlformats.org/officeDocument/2006/relationships/font" Target="fonts/BeVietnamProSemiBold-italic.fntdata"/><Relationship Id="rId11" Type="http://schemas.openxmlformats.org/officeDocument/2006/relationships/slide" Target="slides/slide5.xml"/><Relationship Id="rId33" Type="http://schemas.openxmlformats.org/officeDocument/2006/relationships/font" Target="fonts/BeVietnamPro-boldItalic.fntdata"/><Relationship Id="rId10" Type="http://schemas.openxmlformats.org/officeDocument/2006/relationships/slide" Target="slides/slide4.xml"/><Relationship Id="rId32" Type="http://schemas.openxmlformats.org/officeDocument/2006/relationships/font" Target="fonts/BeVietnamPro-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bef5e556e_3_139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bec55528e_1_30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6f901cca3_1_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bacffc7e3_2_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78869d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e78869d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78869d330_1_10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8869d330_1_90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ec55528e_0_7: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e6f901cca3_8_10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bef5e556e_3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g3dbef5e556e_3_1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dbef5e556e_3_67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ef5e556e_3_117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bef5e556e_3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g3dbef5e556e_3_1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6f8a98846_59_0)">
  <p:cSld name="Generated (g3e6f8a98846_5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5.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17.jpg"/><Relationship Id="rId5" Type="http://schemas.openxmlformats.org/officeDocument/2006/relationships/image" Target="../media/image19.jpg"/><Relationship Id="rId6" Type="http://schemas.openxmlformats.org/officeDocument/2006/relationships/image" Target="../media/image2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 name="Google Shape;86;p14"/>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4"/>
          <p:cNvSpPr txBox="1"/>
          <p:nvPr/>
        </p:nvSpPr>
        <p:spPr>
          <a:xfrm>
            <a:off x="1047750" y="2130028"/>
            <a:ext cx="3771900" cy="1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200">
                <a:solidFill>
                  <a:srgbClr val="C92A2A"/>
                </a:solidFill>
                <a:latin typeface="Be Vietnam Pro"/>
                <a:ea typeface="Be Vietnam Pro"/>
                <a:cs typeface="Be Vietnam Pro"/>
                <a:sym typeface="Be Vietnam Pro"/>
              </a:rPr>
              <a:t>CONFIDENTIAL DATA STRATEGY REPORT</a:t>
            </a:r>
            <a:endParaRPr b="1" sz="1200">
              <a:solidFill>
                <a:srgbClr val="C92A2A"/>
              </a:solidFill>
              <a:latin typeface="Be Vietnam Pro"/>
              <a:ea typeface="Be Vietnam Pro"/>
              <a:cs typeface="Be Vietnam Pro"/>
              <a:sym typeface="Be Vietnam Pro"/>
            </a:endParaRPr>
          </a:p>
        </p:txBody>
      </p:sp>
      <p:sp>
        <p:nvSpPr>
          <p:cNvPr id="88" name="Google Shape;88;p14"/>
          <p:cNvSpPr txBox="1"/>
          <p:nvPr/>
        </p:nvSpPr>
        <p:spPr>
          <a:xfrm>
            <a:off x="1047750" y="2463403"/>
            <a:ext cx="10601400" cy="1238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4024">
                <a:solidFill>
                  <a:srgbClr val="0B2239"/>
                </a:solidFill>
                <a:latin typeface="Be Vietnam Pro"/>
                <a:ea typeface="Be Vietnam Pro"/>
                <a:cs typeface="Be Vietnam Pro"/>
                <a:sym typeface="Be Vietnam Pro"/>
              </a:rPr>
              <a:t>Phân Tích Cắt Lớp Dữ </a:t>
            </a:r>
            <a:r>
              <a:rPr b="1" lang="en-US" sz="4024">
                <a:solidFill>
                  <a:srgbClr val="0B2239"/>
                </a:solidFill>
                <a:latin typeface="Be Vietnam Pro"/>
                <a:ea typeface="Be Vietnam Pro"/>
                <a:cs typeface="Be Vietnam Pro"/>
                <a:sym typeface="Be Vietnam Pro"/>
              </a:rPr>
              <a:t>Liệu</a:t>
            </a:r>
            <a:r>
              <a:rPr b="1" lang="en-US" sz="4024">
                <a:solidFill>
                  <a:srgbClr val="0B2239"/>
                </a:solidFill>
                <a:latin typeface="Be Vietnam Pro"/>
                <a:ea typeface="Be Vietnam Pro"/>
                <a:cs typeface="Be Vietnam Pro"/>
                <a:sym typeface="Be Vietnam Pro"/>
              </a:rPr>
              <a:t>:</a:t>
            </a:r>
            <a:br>
              <a:rPr b="1" lang="en-US" sz="4024">
                <a:solidFill>
                  <a:srgbClr val="0B2239"/>
                </a:solidFill>
                <a:latin typeface="Be Vietnam Pro"/>
                <a:ea typeface="Be Vietnam Pro"/>
                <a:cs typeface="Be Vietnam Pro"/>
                <a:sym typeface="Be Vietnam Pro"/>
              </a:rPr>
            </a:br>
            <a:r>
              <a:rPr b="1" lang="en-US" sz="4024">
                <a:solidFill>
                  <a:srgbClr val="0B2239"/>
                </a:solidFill>
                <a:latin typeface="Be Vietnam Pro"/>
                <a:ea typeface="Be Vietnam Pro"/>
                <a:cs typeface="Be Vietnam Pro"/>
                <a:sym typeface="Be Vietnam Pro"/>
              </a:rPr>
              <a:t>Giải Mã Hiện Tượng Trượt Lợi Nhuận</a:t>
            </a:r>
            <a:endParaRPr b="1" sz="4024">
              <a:solidFill>
                <a:srgbClr val="0B2239"/>
              </a:solidFill>
              <a:latin typeface="Be Vietnam Pro"/>
              <a:ea typeface="Be Vietnam Pro"/>
              <a:cs typeface="Be Vietnam Pro"/>
              <a:sym typeface="Be Vietnam Pro"/>
            </a:endParaRPr>
          </a:p>
        </p:txBody>
      </p:sp>
      <p:sp>
        <p:nvSpPr>
          <p:cNvPr id="89" name="Google Shape;89;p14"/>
          <p:cNvSpPr txBox="1"/>
          <p:nvPr/>
        </p:nvSpPr>
        <p:spPr>
          <a:xfrm>
            <a:off x="1047750" y="3924300"/>
            <a:ext cx="10096500" cy="5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650">
                <a:solidFill>
                  <a:srgbClr val="4B5563"/>
                </a:solidFill>
                <a:latin typeface="Be Vietnam Pro"/>
                <a:ea typeface="Be Vietnam Pro"/>
                <a:cs typeface="Be Vietnam Pro"/>
                <a:sym typeface="Be Vietnam Pro"/>
              </a:rPr>
              <a:t>Bóc tách 472k phiên truy cập &amp; 40k dữ liệu giỏ hàng để tìm ra "nút thắt cổ chai" trong Vận hành, Trải nghiệm UX và Chiến lược Bán chéo (Cross-selling).</a:t>
            </a:r>
            <a:endParaRPr b="0" sz="1650">
              <a:solidFill>
                <a:srgbClr val="4B5563"/>
              </a:solidFill>
              <a:latin typeface="Be Vietnam Pro"/>
              <a:ea typeface="Be Vietnam Pro"/>
              <a:cs typeface="Be Vietnam Pro"/>
              <a:sym typeface="Be Vietnam Pro"/>
            </a:endParaRPr>
          </a:p>
        </p:txBody>
      </p:sp>
      <p:sp>
        <p:nvSpPr>
          <p:cNvPr id="90" name="Google Shape;90;p14"/>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Thực Trạng Nguồn Dữ Liệu</a:t>
            </a:r>
            <a:endParaRPr b="1" sz="2850">
              <a:solidFill>
                <a:srgbClr val="0B2239"/>
              </a:solidFill>
              <a:latin typeface="Be Vietnam Pro"/>
              <a:ea typeface="Be Vietnam Pro"/>
              <a:cs typeface="Be Vietnam Pro"/>
              <a:sym typeface="Be Vietnam Pro"/>
            </a:endParaRPr>
          </a:p>
        </p:txBody>
      </p:sp>
      <p:sp>
        <p:nvSpPr>
          <p:cNvPr id="97" name="Google Shape;97;p1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8" name="Google Shape;98;p15"/>
          <p:cNvGrpSpPr/>
          <p:nvPr/>
        </p:nvGrpSpPr>
        <p:grpSpPr>
          <a:xfrm>
            <a:off x="666750" y="1524000"/>
            <a:ext cx="3429000" cy="1714500"/>
            <a:chOff x="666750" y="1524000"/>
            <a:chExt cx="3429000" cy="1714500"/>
          </a:xfrm>
        </p:grpSpPr>
        <p:sp>
          <p:nvSpPr>
            <p:cNvPr id="99" name="Google Shape;99;p15"/>
            <p:cNvSpPr/>
            <p:nvPr/>
          </p:nvSpPr>
          <p:spPr>
            <a:xfrm>
              <a:off x="6667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Tổng truy cập phân tích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472,871</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Phiên (Sessions)</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1" name="Google Shape;101;p15"/>
          <p:cNvGrpSpPr/>
          <p:nvPr/>
        </p:nvGrpSpPr>
        <p:grpSpPr>
          <a:xfrm>
            <a:off x="4381500" y="1524000"/>
            <a:ext cx="3429000" cy="1714500"/>
            <a:chOff x="4381500" y="1524000"/>
            <a:chExt cx="3429000" cy="1714500"/>
          </a:xfrm>
        </p:grpSpPr>
        <p:sp>
          <p:nvSpPr>
            <p:cNvPr id="102" name="Google Shape;102;p15"/>
            <p:cNvSpPr/>
            <p:nvPr/>
          </p:nvSpPr>
          <p:spPr>
            <a:xfrm>
              <a:off x="438150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5"/>
            <p:cNvSpPr txBox="1"/>
            <p:nvPr/>
          </p:nvSpPr>
          <p:spPr>
            <a:xfrm>
              <a:off x="466725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Dữ liệu giao dịch</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40,000+</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Bản ghi giỏ hàng</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4" name="Google Shape;104;p15"/>
          <p:cNvGrpSpPr/>
          <p:nvPr/>
        </p:nvGrpSpPr>
        <p:grpSpPr>
          <a:xfrm>
            <a:off x="8096250" y="1524000"/>
            <a:ext cx="3429000" cy="1714500"/>
            <a:chOff x="8096250" y="1524000"/>
            <a:chExt cx="3429000" cy="1714500"/>
          </a:xfrm>
        </p:grpSpPr>
        <p:sp>
          <p:nvSpPr>
            <p:cNvPr id="105" name="Google Shape;105;p15"/>
            <p:cNvSpPr/>
            <p:nvPr/>
          </p:nvSpPr>
          <p:spPr>
            <a:xfrm>
              <a:off x="8096250" y="1524000"/>
              <a:ext cx="3429000" cy="1714500"/>
            </a:xfrm>
            <a:prstGeom prst="roundRect">
              <a:avLst>
                <a:gd fmla="val 6666"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8382000" y="1762125"/>
              <a:ext cx="28575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6B7280"/>
                  </a:solidFill>
                  <a:latin typeface="Be Vietnam Pro"/>
                  <a:ea typeface="Be Vietnam Pro"/>
                  <a:cs typeface="Be Vietnam Pro"/>
                  <a:sym typeface="Be Vietnam Pro"/>
                </a:rPr>
                <a:t>Độ tin cậy</a:t>
              </a:r>
              <a:endParaRPr b="0" sz="1200">
                <a:solidFill>
                  <a:srgbClr val="6B7280"/>
                </a:solidFill>
                <a:latin typeface="Be Vietnam Pro"/>
                <a:ea typeface="Be Vietnam Pro"/>
                <a:cs typeface="Be Vietnam Pro"/>
                <a:sym typeface="Be Vietnam Pro"/>
              </a:endParaRPr>
            </a:p>
            <a:p>
              <a:pPr indent="0" lvl="0" marL="0" rtl="0" algn="l">
                <a:spcBef>
                  <a:spcPts val="0"/>
                </a:spcBef>
                <a:spcAft>
                  <a:spcPts val="0"/>
                </a:spcAft>
                <a:buNone/>
              </a:pPr>
              <a:r>
                <a:rPr b="1" lang="en-US" sz="3200">
                  <a:solidFill>
                    <a:srgbClr val="0B2239"/>
                  </a:solidFill>
                  <a:latin typeface="Be Vietnam Pro"/>
                  <a:ea typeface="Be Vietnam Pro"/>
                  <a:cs typeface="Be Vietnam Pro"/>
                  <a:sym typeface="Be Vietnam Pro"/>
                </a:rPr>
                <a:t>98.5%</a:t>
              </a:r>
              <a:endParaRPr b="1" sz="3200">
                <a:solidFill>
                  <a:srgbClr val="0B2239"/>
                </a:solidFill>
                <a:latin typeface="Be Vietnam Pro"/>
                <a:ea typeface="Be Vietnam Pro"/>
                <a:cs typeface="Be Vietnam Pro"/>
                <a:sym typeface="Be Vietnam Pro"/>
              </a:endParaRPr>
            </a:p>
            <a:p>
              <a:pPr indent="0" lvl="0" marL="0" rtl="0" algn="l">
                <a:spcBef>
                  <a:spcPts val="0"/>
                </a:spcBef>
                <a:spcAft>
                  <a:spcPts val="0"/>
                </a:spcAft>
                <a:buNone/>
              </a:pPr>
              <a:r>
                <a:rPr b="0" lang="en-US" sz="1400">
                  <a:solidFill>
                    <a:srgbClr val="059669"/>
                  </a:solidFill>
                  <a:latin typeface="Be Vietnam Pro SemiBold"/>
                  <a:ea typeface="Be Vietnam Pro SemiBold"/>
                  <a:cs typeface="Be Vietnam Pro SemiBold"/>
                  <a:sym typeface="Be Vietnam Pro SemiBold"/>
                </a:rPr>
                <a:t>Dữ liệu sạch (Cleaned)</a:t>
              </a:r>
              <a:endParaRPr b="0" sz="1400">
                <a:solidFill>
                  <a:srgbClr val="059669"/>
                </a:solidFill>
                <a:latin typeface="Be Vietnam Pro SemiBold"/>
                <a:ea typeface="Be Vietnam Pro SemiBold"/>
                <a:cs typeface="Be Vietnam Pro SemiBold"/>
                <a:sym typeface="Be Vietnam Pro SemiBold"/>
              </a:endParaRPr>
            </a:p>
          </p:txBody>
        </p:sp>
      </p:grpSp>
      <p:grpSp>
        <p:nvGrpSpPr>
          <p:cNvPr id="107" name="Google Shape;107;p15"/>
          <p:cNvGrpSpPr/>
          <p:nvPr/>
        </p:nvGrpSpPr>
        <p:grpSpPr>
          <a:xfrm>
            <a:off x="666909" y="3524250"/>
            <a:ext cx="10858512" cy="1143000"/>
            <a:chOff x="4762500" y="3524250"/>
            <a:chExt cx="6762900" cy="1143000"/>
          </a:xfrm>
        </p:grpSpPr>
        <p:sp>
          <p:nvSpPr>
            <p:cNvPr id="108" name="Google Shape;108;p15"/>
            <p:cNvSpPr/>
            <p:nvPr/>
          </p:nvSpPr>
          <p:spPr>
            <a:xfrm>
              <a:off x="4762500" y="35242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5048250" y="36671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Nguồn Dữ Liệu Tích Hợp</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Kết hợp từ hệ thống Tracking phiên truy cập (Web/App), CRM và dữ liệu giao dịch từ Kho vận (Logistics) để đảm bảo tính nhất quán từ Click đến Delivery.</a:t>
              </a:r>
              <a:endParaRPr b="0" sz="1200">
                <a:solidFill>
                  <a:srgbClr val="4B5563"/>
                </a:solidFill>
                <a:latin typeface="Be Vietnam Pro"/>
                <a:ea typeface="Be Vietnam Pro"/>
                <a:cs typeface="Be Vietnam Pro"/>
                <a:sym typeface="Be Vietnam Pro"/>
              </a:endParaRPr>
            </a:p>
          </p:txBody>
        </p:sp>
      </p:grpSp>
      <p:grpSp>
        <p:nvGrpSpPr>
          <p:cNvPr id="110" name="Google Shape;110;p15"/>
          <p:cNvGrpSpPr/>
          <p:nvPr/>
        </p:nvGrpSpPr>
        <p:grpSpPr>
          <a:xfrm>
            <a:off x="666909" y="4857750"/>
            <a:ext cx="10858512" cy="1143000"/>
            <a:chOff x="4762500" y="4857750"/>
            <a:chExt cx="6762900" cy="1143000"/>
          </a:xfrm>
        </p:grpSpPr>
        <p:sp>
          <p:nvSpPr>
            <p:cNvPr id="111" name="Google Shape;111;p15"/>
            <p:cNvSpPr/>
            <p:nvPr/>
          </p:nvSpPr>
          <p:spPr>
            <a:xfrm>
              <a:off x="4762500" y="4857750"/>
              <a:ext cx="6762900" cy="1143000"/>
            </a:xfrm>
            <a:prstGeom prst="roundRect">
              <a:avLst>
                <a:gd fmla="val 100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5048250" y="5000625"/>
              <a:ext cx="61914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400">
                  <a:solidFill>
                    <a:srgbClr val="374151"/>
                  </a:solidFill>
                  <a:latin typeface="Be Vietnam Pro SemiBold"/>
                  <a:ea typeface="Be Vietnam Pro SemiBold"/>
                  <a:cs typeface="Be Vietnam Pro SemiBold"/>
                  <a:sym typeface="Be Vietnam Pro SemiBold"/>
                </a:rPr>
                <a:t>Thách Thức Hiện Tại</a:t>
              </a:r>
              <a:endParaRPr b="0" sz="1400">
                <a:solidFill>
                  <a:srgbClr val="374151"/>
                </a:solidFill>
                <a:latin typeface="Be Vietnam Pro SemiBold"/>
                <a:ea typeface="Be Vietnam Pro SemiBold"/>
                <a:cs typeface="Be Vietnam Pro SemiBold"/>
                <a:sym typeface="Be Vietnam Pro SemiBold"/>
              </a:endParaRPr>
            </a:p>
            <a:p>
              <a:pPr indent="0" lvl="0" marL="0" rtl="0" algn="l">
                <a:spcBef>
                  <a:spcPts val="600"/>
                </a:spcBef>
                <a:spcAft>
                  <a:spcPts val="0"/>
                </a:spcAft>
                <a:buNone/>
              </a:pPr>
              <a:r>
                <a:rPr b="0" lang="en-US" sz="1200">
                  <a:solidFill>
                    <a:srgbClr val="4B5563"/>
                  </a:solidFill>
                  <a:latin typeface="Be Vietnam Pro"/>
                  <a:ea typeface="Be Vietnam Pro"/>
                  <a:cs typeface="Be Vietnam Pro"/>
                  <a:sym typeface="Be Vietnam Pro"/>
                </a:rPr>
                <a:t>Sự phân mảnh giữa dữ liệu Marketing và Tài chính vẫn còn độ trễ nhất định (2-4h), cần tối ưu hóa Pipeline để phục vụ phân tích thời gian thực (Real-time).</a:t>
              </a:r>
              <a:endParaRPr b="0" sz="1200">
                <a:solidFill>
                  <a:srgbClr val="4B5563"/>
                </a:solidFill>
                <a:latin typeface="Be Vietnam Pro"/>
                <a:ea typeface="Be Vietnam Pro"/>
                <a:cs typeface="Be Vietnam Pro"/>
                <a:sym typeface="Be Vietnam Pro"/>
              </a:endParaRPr>
            </a:p>
          </p:txBody>
        </p:sp>
      </p:grpSp>
      <p:sp>
        <p:nvSpPr>
          <p:cNvPr id="113" name="Google Shape;113;p15"/>
          <p:cNvSpPr txBox="1"/>
          <p:nvPr/>
        </p:nvSpPr>
        <p:spPr>
          <a:xfrm>
            <a:off x="4762500" y="6191250"/>
            <a:ext cx="6762900" cy="285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US" sz="1200">
                <a:solidFill>
                  <a:srgbClr val="6B7280"/>
                </a:solidFill>
                <a:latin typeface="Be Vietnam Pro"/>
                <a:ea typeface="Be Vietnam Pro"/>
                <a:cs typeface="Be Vietnam Pro"/>
                <a:sym typeface="Be Vietnam Pro"/>
              </a:rPr>
              <a:t>Báo cáo chiến lược dữ liệu 2026 | Bảo mật lưu hành nội bộ</a:t>
            </a:r>
            <a:endParaRPr b="0" sz="1200">
              <a:solidFill>
                <a:srgbClr val="6B7280"/>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A very subtle background pattern of clean, minimalist financial line charts and data grids, corporate aesthetic, light gray on white."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6"/>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Tình Hình Kinh </a:t>
            </a:r>
            <a:r>
              <a:rPr b="1" lang="en-US" sz="2850">
                <a:solidFill>
                  <a:srgbClr val="0B2239"/>
                </a:solidFill>
                <a:latin typeface="Be Vietnam Pro"/>
                <a:ea typeface="Be Vietnam Pro"/>
                <a:cs typeface="Be Vietnam Pro"/>
                <a:sym typeface="Be Vietnam Pro"/>
              </a:rPr>
              <a:t>Doanh</a:t>
            </a:r>
            <a:endParaRPr b="1" sz="2850">
              <a:solidFill>
                <a:srgbClr val="0B2239"/>
              </a:solidFill>
              <a:latin typeface="Be Vietnam Pro"/>
              <a:ea typeface="Be Vietnam Pro"/>
              <a:cs typeface="Be Vietnam Pro"/>
              <a:sym typeface="Be Vietnam Pro"/>
            </a:endParaRPr>
          </a:p>
        </p:txBody>
      </p:sp>
      <p:sp>
        <p:nvSpPr>
          <p:cNvPr id="121" name="Google Shape;121;p16"/>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666750" y="1524000"/>
            <a:ext cx="2524200" cy="1238400"/>
            <a:chOff x="666750" y="1524000"/>
            <a:chExt cx="2524200" cy="1238400"/>
          </a:xfrm>
        </p:grpSpPr>
        <p:sp>
          <p:nvSpPr>
            <p:cNvPr id="123" name="Google Shape;123;p16"/>
            <p:cNvSpPr/>
            <p:nvPr/>
          </p:nvSpPr>
          <p:spPr>
            <a:xfrm>
              <a:off x="66675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6"/>
            <p:cNvSpPr txBox="1"/>
            <p:nvPr/>
          </p:nvSpPr>
          <p:spPr>
            <a:xfrm>
              <a:off x="85725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Sessions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472,871</a:t>
              </a:r>
              <a:endParaRPr b="1" sz="2800">
                <a:solidFill>
                  <a:srgbClr val="0B2239"/>
                </a:solidFill>
                <a:latin typeface="Be Vietnam Pro"/>
                <a:ea typeface="Be Vietnam Pro"/>
                <a:cs typeface="Be Vietnam Pro"/>
                <a:sym typeface="Be Vietnam Pro"/>
              </a:endParaRPr>
            </a:p>
          </p:txBody>
        </p:sp>
      </p:grpSp>
      <p:grpSp>
        <p:nvGrpSpPr>
          <p:cNvPr id="125" name="Google Shape;125;p16"/>
          <p:cNvGrpSpPr/>
          <p:nvPr/>
        </p:nvGrpSpPr>
        <p:grpSpPr>
          <a:xfrm>
            <a:off x="3438525" y="1524000"/>
            <a:ext cx="2524200" cy="1238400"/>
            <a:chOff x="3438525" y="1524000"/>
            <a:chExt cx="2524200" cy="1238400"/>
          </a:xfrm>
        </p:grpSpPr>
        <p:sp>
          <p:nvSpPr>
            <p:cNvPr id="126" name="Google Shape;126;p16"/>
            <p:cNvSpPr/>
            <p:nvPr/>
          </p:nvSpPr>
          <p:spPr>
            <a:xfrm>
              <a:off x="34385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6"/>
            <p:cNvSpPr txBox="1"/>
            <p:nvPr/>
          </p:nvSpPr>
          <p:spPr>
            <a:xfrm>
              <a:off x="36290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Orders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32,313</a:t>
              </a:r>
              <a:endParaRPr b="1" sz="2800">
                <a:solidFill>
                  <a:srgbClr val="0B2239"/>
                </a:solidFill>
                <a:latin typeface="Be Vietnam Pro"/>
                <a:ea typeface="Be Vietnam Pro"/>
                <a:cs typeface="Be Vietnam Pro"/>
                <a:sym typeface="Be Vietnam Pro"/>
              </a:endParaRPr>
            </a:p>
          </p:txBody>
        </p:sp>
      </p:grpSp>
      <p:grpSp>
        <p:nvGrpSpPr>
          <p:cNvPr id="128" name="Google Shape;128;p16"/>
          <p:cNvGrpSpPr/>
          <p:nvPr/>
        </p:nvGrpSpPr>
        <p:grpSpPr>
          <a:xfrm>
            <a:off x="6219825" y="1524000"/>
            <a:ext cx="2524200" cy="1238400"/>
            <a:chOff x="6219825" y="1524000"/>
            <a:chExt cx="2524200" cy="1238400"/>
          </a:xfrm>
        </p:grpSpPr>
        <p:sp>
          <p:nvSpPr>
            <p:cNvPr id="129" name="Google Shape;129;p16"/>
            <p:cNvSpPr/>
            <p:nvPr/>
          </p:nvSpPr>
          <p:spPr>
            <a:xfrm>
              <a:off x="6219825"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txBox="1"/>
            <p:nvPr/>
          </p:nvSpPr>
          <p:spPr>
            <a:xfrm>
              <a:off x="6410325"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CR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59669"/>
                  </a:solidFill>
                  <a:latin typeface="Be Vietnam Pro"/>
                  <a:ea typeface="Be Vietnam Pro"/>
                  <a:cs typeface="Be Vietnam Pro"/>
                  <a:sym typeface="Be Vietnam Pro"/>
                </a:rPr>
                <a:t>6.83%</a:t>
              </a:r>
              <a:endParaRPr b="1" sz="2800">
                <a:solidFill>
                  <a:srgbClr val="059669"/>
                </a:solidFill>
                <a:latin typeface="Be Vietnam Pro"/>
                <a:ea typeface="Be Vietnam Pro"/>
                <a:cs typeface="Be Vietnam Pro"/>
                <a:sym typeface="Be Vietnam Pro"/>
              </a:endParaRPr>
            </a:p>
          </p:txBody>
        </p:sp>
      </p:grpSp>
      <p:grpSp>
        <p:nvGrpSpPr>
          <p:cNvPr id="131" name="Google Shape;131;p16"/>
          <p:cNvGrpSpPr/>
          <p:nvPr/>
        </p:nvGrpSpPr>
        <p:grpSpPr>
          <a:xfrm>
            <a:off x="8991600" y="1524000"/>
            <a:ext cx="2524200" cy="1238400"/>
            <a:chOff x="8991600" y="1524000"/>
            <a:chExt cx="2524200" cy="1238400"/>
          </a:xfrm>
        </p:grpSpPr>
        <p:sp>
          <p:nvSpPr>
            <p:cNvPr id="132" name="Google Shape;132;p16"/>
            <p:cNvSpPr/>
            <p:nvPr/>
          </p:nvSpPr>
          <p:spPr>
            <a:xfrm>
              <a:off x="8991600" y="1524000"/>
              <a:ext cx="2524200" cy="1238400"/>
            </a:xfrm>
            <a:prstGeom prst="roundRect">
              <a:avLst>
                <a:gd fmla="val 923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9182100" y="1714500"/>
              <a:ext cx="2143200" cy="85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AOV</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$59.99</a:t>
              </a:r>
              <a:endParaRPr b="1" sz="2800">
                <a:solidFill>
                  <a:srgbClr val="0B2239"/>
                </a:solidFill>
                <a:latin typeface="Be Vietnam Pro"/>
                <a:ea typeface="Be Vietnam Pro"/>
                <a:cs typeface="Be Vietnam Pro"/>
                <a:sym typeface="Be Vietnam Pro"/>
              </a:endParaRPr>
            </a:p>
          </p:txBody>
        </p:sp>
      </p:grpSp>
      <p:grpSp>
        <p:nvGrpSpPr>
          <p:cNvPr id="134" name="Google Shape;134;p16"/>
          <p:cNvGrpSpPr/>
          <p:nvPr/>
        </p:nvGrpSpPr>
        <p:grpSpPr>
          <a:xfrm>
            <a:off x="666750" y="3000375"/>
            <a:ext cx="5295900" cy="1524000"/>
            <a:chOff x="666750" y="3000375"/>
            <a:chExt cx="5295900" cy="1524000"/>
          </a:xfrm>
        </p:grpSpPr>
        <p:sp>
          <p:nvSpPr>
            <p:cNvPr id="135" name="Google Shape;135;p16"/>
            <p:cNvSpPr/>
            <p:nvPr/>
          </p:nvSpPr>
          <p:spPr>
            <a:xfrm>
              <a:off x="666750"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952500"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Revenue</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B2239"/>
                  </a:solidFill>
                  <a:latin typeface="Be Vietnam Pro"/>
                  <a:ea typeface="Be Vietnam Pro"/>
                  <a:cs typeface="Be Vietnam Pro"/>
                  <a:sym typeface="Be Vietnam Pro"/>
                </a:rPr>
                <a:t>$1,938,510</a:t>
              </a:r>
              <a:endParaRPr b="1" sz="3600">
                <a:solidFill>
                  <a:srgbClr val="0B2239"/>
                </a:solidFill>
                <a:latin typeface="Be Vietnam Pro"/>
                <a:ea typeface="Be Vietnam Pro"/>
                <a:cs typeface="Be Vietnam Pro"/>
                <a:sym typeface="Be Vietnam Pro"/>
              </a:endParaRPr>
            </a:p>
          </p:txBody>
        </p:sp>
      </p:grpSp>
      <p:grpSp>
        <p:nvGrpSpPr>
          <p:cNvPr id="137" name="Google Shape;137;p16"/>
          <p:cNvGrpSpPr/>
          <p:nvPr/>
        </p:nvGrpSpPr>
        <p:grpSpPr>
          <a:xfrm>
            <a:off x="6219825" y="3000375"/>
            <a:ext cx="5295900" cy="1524000"/>
            <a:chOff x="6219825" y="3000375"/>
            <a:chExt cx="5295900" cy="1524000"/>
          </a:xfrm>
        </p:grpSpPr>
        <p:sp>
          <p:nvSpPr>
            <p:cNvPr id="138" name="Google Shape;138;p16"/>
            <p:cNvSpPr/>
            <p:nvPr/>
          </p:nvSpPr>
          <p:spPr>
            <a:xfrm>
              <a:off x="6219825" y="3000375"/>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6505575" y="3190875"/>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Refunds</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C92A2A"/>
                  </a:solidFill>
                  <a:latin typeface="Be Vietnam Pro"/>
                  <a:ea typeface="Be Vietnam Pro"/>
                  <a:cs typeface="Be Vietnam Pro"/>
                  <a:sym typeface="Be Vietnam Pro"/>
                </a:rPr>
                <a:t>-$85,339</a:t>
              </a:r>
              <a:endParaRPr b="1" sz="3600">
                <a:solidFill>
                  <a:srgbClr val="C92A2A"/>
                </a:solidFill>
                <a:latin typeface="Be Vietnam Pro"/>
                <a:ea typeface="Be Vietnam Pro"/>
                <a:cs typeface="Be Vietnam Pro"/>
                <a:sym typeface="Be Vietnam Pro"/>
              </a:endParaRPr>
            </a:p>
          </p:txBody>
        </p:sp>
      </p:grpSp>
      <p:grpSp>
        <p:nvGrpSpPr>
          <p:cNvPr id="140" name="Google Shape;140;p16"/>
          <p:cNvGrpSpPr/>
          <p:nvPr/>
        </p:nvGrpSpPr>
        <p:grpSpPr>
          <a:xfrm>
            <a:off x="666750" y="4762500"/>
            <a:ext cx="5295900" cy="1524000"/>
            <a:chOff x="666750" y="4762500"/>
            <a:chExt cx="5295900" cy="1524000"/>
          </a:xfrm>
        </p:grpSpPr>
        <p:sp>
          <p:nvSpPr>
            <p:cNvPr id="141" name="Google Shape;141;p16"/>
            <p:cNvSpPr/>
            <p:nvPr/>
          </p:nvSpPr>
          <p:spPr>
            <a:xfrm>
              <a:off x="666750" y="4762500"/>
              <a:ext cx="5295900" cy="1524000"/>
            </a:xfrm>
            <a:prstGeom prst="roundRect">
              <a:avLst>
                <a:gd fmla="val 7500" name="adj"/>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6"/>
            <p:cNvSpPr txBox="1"/>
            <p:nvPr/>
          </p:nvSpPr>
          <p:spPr>
            <a:xfrm>
              <a:off x="952500"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9CA3AF"/>
                  </a:solidFill>
                  <a:latin typeface="Arial"/>
                  <a:ea typeface="Arial"/>
                  <a:cs typeface="Arial"/>
                  <a:sym typeface="Arial"/>
                </a:rPr>
                <a:t>Net Profit</a:t>
              </a:r>
              <a:endParaRPr sz="1000">
                <a:solidFill>
                  <a:srgbClr val="9CA3AF"/>
                </a:solidFill>
                <a:latin typeface="Arial"/>
                <a:ea typeface="Arial"/>
                <a:cs typeface="Arial"/>
                <a:sym typeface="Arial"/>
              </a:endParaRPr>
            </a:p>
            <a:p>
              <a:pPr indent="0" lvl="0" marL="0" rtl="0" algn="l">
                <a:spcBef>
                  <a:spcPts val="0"/>
                </a:spcBef>
                <a:spcAft>
                  <a:spcPts val="0"/>
                </a:spcAft>
                <a:buNone/>
              </a:pPr>
              <a:r>
                <a:rPr b="1" lang="en-US" sz="3600">
                  <a:solidFill>
                    <a:srgbClr val="FFFFFF"/>
                  </a:solidFill>
                  <a:latin typeface="Be Vietnam Pro"/>
                  <a:ea typeface="Be Vietnam Pro"/>
                  <a:cs typeface="Be Vietnam Pro"/>
                  <a:sym typeface="Be Vietnam Pro"/>
                </a:rPr>
                <a:t>$1,130,801</a:t>
              </a:r>
              <a:endParaRPr b="1" sz="3600">
                <a:solidFill>
                  <a:srgbClr val="FFFFFF"/>
                </a:solidFill>
                <a:latin typeface="Be Vietnam Pro"/>
                <a:ea typeface="Be Vietnam Pro"/>
                <a:cs typeface="Be Vietnam Pro"/>
                <a:sym typeface="Be Vietnam Pro"/>
              </a:endParaRPr>
            </a:p>
          </p:txBody>
        </p:sp>
      </p:grpSp>
      <p:grpSp>
        <p:nvGrpSpPr>
          <p:cNvPr id="143" name="Google Shape;143;p16"/>
          <p:cNvGrpSpPr/>
          <p:nvPr/>
        </p:nvGrpSpPr>
        <p:grpSpPr>
          <a:xfrm>
            <a:off x="6219825" y="4762500"/>
            <a:ext cx="5295900" cy="1524000"/>
            <a:chOff x="6219825" y="4762500"/>
            <a:chExt cx="5295900" cy="1524000"/>
          </a:xfrm>
        </p:grpSpPr>
        <p:sp>
          <p:nvSpPr>
            <p:cNvPr id="144" name="Google Shape;144;p16"/>
            <p:cNvSpPr/>
            <p:nvPr/>
          </p:nvSpPr>
          <p:spPr>
            <a:xfrm>
              <a:off x="6219825" y="4762500"/>
              <a:ext cx="5295900" cy="1524000"/>
            </a:xfrm>
            <a:prstGeom prst="roundRect">
              <a:avLst>
                <a:gd fmla="val 7500"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6"/>
            <p:cNvSpPr txBox="1"/>
            <p:nvPr/>
          </p:nvSpPr>
          <p:spPr>
            <a:xfrm>
              <a:off x="6505575" y="4953000"/>
              <a:ext cx="47625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000">
                  <a:solidFill>
                    <a:srgbClr val="6B7280"/>
                  </a:solidFill>
                  <a:latin typeface="Arial"/>
                  <a:ea typeface="Arial"/>
                  <a:cs typeface="Arial"/>
                  <a:sym typeface="Arial"/>
                </a:rPr>
                <a:t>Net Margin (%)</a:t>
              </a:r>
              <a:endParaRPr sz="1000">
                <a:solidFill>
                  <a:srgbClr val="6B7280"/>
                </a:solidFill>
                <a:latin typeface="Arial"/>
                <a:ea typeface="Arial"/>
                <a:cs typeface="Arial"/>
                <a:sym typeface="Arial"/>
              </a:endParaRPr>
            </a:p>
            <a:p>
              <a:pPr indent="0" lvl="0" marL="0" rtl="0" algn="l">
                <a:spcBef>
                  <a:spcPts val="0"/>
                </a:spcBef>
                <a:spcAft>
                  <a:spcPts val="0"/>
                </a:spcAft>
                <a:buNone/>
              </a:pPr>
              <a:r>
                <a:rPr b="1" lang="en-US" sz="3600">
                  <a:solidFill>
                    <a:srgbClr val="059669"/>
                  </a:solidFill>
                  <a:latin typeface="Be Vietnam Pro"/>
                  <a:ea typeface="Be Vietnam Pro"/>
                  <a:cs typeface="Be Vietnam Pro"/>
                  <a:sym typeface="Be Vietnam Pro"/>
                </a:rPr>
                <a:t>58.33%</a:t>
              </a:r>
              <a:endParaRPr b="1" sz="3600">
                <a:solidFill>
                  <a:srgbClr val="059669"/>
                </a:solidFill>
                <a:latin typeface="Be Vietnam Pro"/>
                <a:ea typeface="Be Vietnam Pro"/>
                <a:cs typeface="Be Vietnam Pro"/>
                <a:sym typeface="Be Vietnam Pr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pic>
        <p:nvPicPr>
          <p:cNvPr descr="image.png" id="150" name="Google Shape;15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1" name="Google Shape;151;p1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152" name="Google Shape;152;p17"/>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85411" y="2944263"/>
            <a:ext cx="9421200" cy="59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1: Sự Đánh Lừa Của Doanh Thu</a:t>
            </a:r>
            <a:endParaRPr b="1" sz="3885">
              <a:solidFill>
                <a:srgbClr val="FFFFFF"/>
              </a:solidFill>
              <a:latin typeface="Be Vietnam Pro"/>
              <a:ea typeface="Be Vietnam Pro"/>
              <a:cs typeface="Be Vietnam Pro"/>
              <a:sym typeface="Be Vietnam Pro"/>
            </a:endParaRPr>
          </a:p>
        </p:txBody>
      </p:sp>
      <p:sp>
        <p:nvSpPr>
          <p:cNvPr id="155" name="Google Shape;155;p17"/>
          <p:cNvSpPr txBox="1"/>
          <p:nvPr/>
        </p:nvSpPr>
        <p:spPr>
          <a:xfrm>
            <a:off x="2286000" y="3849138"/>
            <a:ext cx="7620000" cy="5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1800">
                <a:solidFill>
                  <a:srgbClr val="9CA3AF"/>
                </a:solidFill>
                <a:latin typeface="Be Vietnam Pro"/>
                <a:ea typeface="Be Vietnam Pro"/>
                <a:cs typeface="Be Vietnam Pro"/>
                <a:sym typeface="Be Vietnam Pro"/>
              </a:rPr>
              <a:t>Bóc tách Unit Economics (Kinh tế học đơn vị) để thấy rõ tác động tàn phá của chi phí ẩn và Tỷ lệ hoàn trả (Refunds) lên Net Margin.</a:t>
            </a:r>
            <a:endParaRPr b="0" sz="1800">
              <a:solidFill>
                <a:srgbClr val="9CA3AF"/>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 name="Shape 159"/>
        <p:cNvGrpSpPr/>
        <p:nvPr/>
      </p:nvGrpSpPr>
      <p:grpSpPr>
        <a:xfrm>
          <a:off x="0" y="0"/>
          <a:ext cx="0" cy="0"/>
          <a:chOff x="0" y="0"/>
          <a:chExt cx="0" cy="0"/>
        </a:xfrm>
      </p:grpSpPr>
      <p:pic>
        <p:nvPicPr>
          <p:cNvPr descr="image.png" id="160" name="Google Shape;16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1" name="Google Shape;161;p18"/>
          <p:cNvPicPr preferRelativeResize="0"/>
          <p:nvPr/>
        </p:nvPicPr>
        <p:blipFill rotWithShape="1">
          <a:blip r:embed="rId4">
            <a:alphaModFix/>
          </a:blip>
          <a:srcRect b="0" l="0" r="0" t="0"/>
          <a:stretch/>
        </p:blipFill>
        <p:spPr>
          <a:xfrm>
            <a:off x="6381750" y="4238922"/>
            <a:ext cx="5143500" cy="728662"/>
          </a:xfrm>
          <a:prstGeom prst="rect">
            <a:avLst/>
          </a:prstGeom>
          <a:noFill/>
          <a:ln>
            <a:noFill/>
          </a:ln>
        </p:spPr>
      </p:pic>
      <p:sp>
        <p:nvSpPr>
          <p:cNvPr id="162" name="Google Shape;162;p18"/>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666750" y="3053820"/>
            <a:ext cx="5143500" cy="1269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250" u="none" cap="none" strike="noStrike">
                <a:solidFill>
                  <a:srgbClr val="0B2239"/>
                </a:solidFill>
                <a:latin typeface="Be Vietnam Pro"/>
                <a:ea typeface="Be Vietnam Pro"/>
                <a:cs typeface="Be Vietnam Pro"/>
                <a:sym typeface="Be Vietnam Pro"/>
              </a:rPr>
              <a:t>$1.93M</a:t>
            </a:r>
            <a:endParaRPr>
              <a:latin typeface="Be Vietnam Pro"/>
              <a:ea typeface="Be Vietnam Pro"/>
              <a:cs typeface="Be Vietnam Pro"/>
              <a:sym typeface="Be Vietnam Pro"/>
            </a:endParaRPr>
          </a:p>
        </p:txBody>
      </p:sp>
      <p:sp>
        <p:nvSpPr>
          <p:cNvPr id="164" name="Google Shape;164;p18"/>
          <p:cNvSpPr txBox="1"/>
          <p:nvPr/>
        </p:nvSpPr>
        <p:spPr>
          <a:xfrm>
            <a:off x="666750" y="4376737"/>
            <a:ext cx="51435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50" u="none" cap="none" strike="noStrike">
                <a:solidFill>
                  <a:srgbClr val="C92A2A"/>
                </a:solidFill>
                <a:latin typeface="Be Vietnam Pro SemiBold"/>
                <a:ea typeface="Be Vietnam Pro SemiBold"/>
                <a:cs typeface="Be Vietnam Pro SemiBold"/>
                <a:sym typeface="Be Vietnam Pro SemiBold"/>
              </a:rPr>
              <a:t>GROSS REVENUE (DOANH THU GỘP)</a:t>
            </a:r>
            <a:endParaRPr>
              <a:latin typeface="Be Vietnam Pro"/>
              <a:ea typeface="Be Vietnam Pro"/>
              <a:cs typeface="Be Vietnam Pro"/>
              <a:sym typeface="Be Vietnam Pro"/>
            </a:endParaRPr>
          </a:p>
        </p:txBody>
      </p:sp>
      <p:sp>
        <p:nvSpPr>
          <p:cNvPr id="165" name="Google Shape;165;p18"/>
          <p:cNvSpPr txBox="1"/>
          <p:nvPr/>
        </p:nvSpPr>
        <p:spPr>
          <a:xfrm>
            <a:off x="6381750" y="2774122"/>
            <a:ext cx="5143500" cy="1271700"/>
          </a:xfrm>
          <a:prstGeom prst="rect">
            <a:avLst/>
          </a:prstGeom>
          <a:noFill/>
          <a:ln>
            <a:noFill/>
          </a:ln>
        </p:spPr>
        <p:txBody>
          <a:bodyPr anchorCtr="0" anchor="t" bIns="0" lIns="0" spcFirstLastPara="1" rIns="0" wrap="square" tIns="0">
            <a:spAutoFit/>
          </a:bodyPr>
          <a:lstStyle/>
          <a:p>
            <a:pPr indent="0" lvl="0" marL="0" marR="0" rtl="0" algn="l">
              <a:lnSpc>
                <a:spcPct val="159929"/>
              </a:lnSpc>
              <a:spcBef>
                <a:spcPts val="0"/>
              </a:spcBef>
              <a:spcAft>
                <a:spcPts val="0"/>
              </a:spcAft>
              <a:buNone/>
            </a:pPr>
            <a:r>
              <a:rPr i="0" lang="en-US" sz="1425" u="none" cap="none" strike="noStrike">
                <a:solidFill>
                  <a:srgbClr val="374151"/>
                </a:solidFill>
                <a:latin typeface="Be Vietnam Pro"/>
                <a:ea typeface="Be Vietnam Pro"/>
                <a:cs typeface="Be Vietnam Pro"/>
                <a:sym typeface="Be Vietnam Pro"/>
              </a:rPr>
              <a:t>Doanh thu gộp (Gross Revenue) là một </a:t>
            </a:r>
            <a:r>
              <a:rPr b="1" i="0" lang="en-US" sz="1425" u="none" cap="none" strike="noStrike">
                <a:solidFill>
                  <a:srgbClr val="374151"/>
                </a:solidFill>
                <a:latin typeface="Be Vietnam Pro"/>
                <a:ea typeface="Be Vietnam Pro"/>
                <a:cs typeface="Be Vietnam Pro"/>
                <a:sym typeface="Be Vietnam Pro"/>
              </a:rPr>
              <a:t>"Vanity Metric" (Chỉ số phù phiếm)</a:t>
            </a:r>
            <a:r>
              <a:rPr i="0" lang="en-US" sz="1425" u="none" cap="none" strike="noStrike">
                <a:solidFill>
                  <a:srgbClr val="374151"/>
                </a:solidFill>
                <a:latin typeface="Be Vietnam Pro"/>
                <a:ea typeface="Be Vietnam Pro"/>
                <a:cs typeface="Be Vietnam Pro"/>
                <a:sym typeface="Be Vietnam Pro"/>
              </a:rPr>
              <a:t>. Khi áp dụng công thức tính Lợi nhuận ròng sau hoàn trả, cấu trúc tài chính thực tế của hệ thống bộc lộ lỗ hổng nghiêm trọng.</a:t>
            </a:r>
            <a:endParaRPr>
              <a:latin typeface="Be Vietnam Pro"/>
              <a:ea typeface="Be Vietnam Pro"/>
              <a:cs typeface="Be Vietnam Pro"/>
              <a:sym typeface="Be Vietnam Pro"/>
            </a:endParaRPr>
          </a:p>
        </p:txBody>
      </p:sp>
      <p:pic>
        <p:nvPicPr>
          <p:cNvPr descr="image.png" id="166" name="Google Shape;166;p18"/>
          <p:cNvPicPr preferRelativeResize="0"/>
          <p:nvPr/>
        </p:nvPicPr>
        <p:blipFill rotWithShape="1">
          <a:blip r:embed="rId5">
            <a:alphaModFix/>
          </a:blip>
          <a:srcRect b="0" l="0" r="0" t="0"/>
          <a:stretch/>
        </p:blipFill>
        <p:spPr>
          <a:xfrm>
            <a:off x="6760071" y="4429422"/>
            <a:ext cx="4424808" cy="347662"/>
          </a:xfrm>
          <a:prstGeom prst="rect">
            <a:avLst/>
          </a:prstGeom>
          <a:noFill/>
          <a:ln>
            <a:noFill/>
          </a:ln>
        </p:spPr>
      </p:pic>
      <p:sp>
        <p:nvSpPr>
          <p:cNvPr id="167" name="Google Shape;167;p18"/>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Khoảng Trống Lợi Nhuận (The Margin Gap)</a:t>
            </a:r>
            <a:endParaRPr>
              <a:latin typeface="Be Vietnam Pro"/>
              <a:ea typeface="Be Vietnam Pro"/>
              <a:cs typeface="Be Vietnam Pro"/>
              <a:sym typeface="Be Vietnam Pro"/>
            </a:endParaRPr>
          </a:p>
        </p:txBody>
      </p:sp>
      <p:sp>
        <p:nvSpPr>
          <p:cNvPr id="168" name="Google Shape;168;p18"/>
          <p:cNvSpPr/>
          <p:nvPr/>
        </p:nvSpPr>
        <p:spPr>
          <a:xfrm>
            <a:off x="666750" y="1133475"/>
            <a:ext cx="10858500" cy="9525"/>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Tình hình Doanh Thu</a:t>
            </a:r>
            <a:r>
              <a:rPr b="1" lang="en-US" sz="2850">
                <a:solidFill>
                  <a:srgbClr val="0B2239"/>
                </a:solidFill>
                <a:latin typeface="Be Vietnam Pro"/>
                <a:ea typeface="Be Vietnam Pro"/>
                <a:cs typeface="Be Vietnam Pro"/>
                <a:sym typeface="Be Vietnam Pro"/>
              </a:rPr>
              <a:t> theo Sản Phẩm</a:t>
            </a:r>
            <a:endParaRPr b="1" sz="2850">
              <a:solidFill>
                <a:srgbClr val="0B2239"/>
              </a:solidFill>
              <a:latin typeface="Be Vietnam Pro"/>
              <a:ea typeface="Be Vietnam Pro"/>
              <a:cs typeface="Be Vietnam Pro"/>
              <a:sym typeface="Be Vietnam Pro"/>
            </a:endParaRPr>
          </a:p>
        </p:txBody>
      </p:sp>
      <p:sp>
        <p:nvSpPr>
          <p:cNvPr id="174" name="Google Shape;174;p1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5" name="Google Shape;175;p19"/>
          <p:cNvGrpSpPr/>
          <p:nvPr/>
        </p:nvGrpSpPr>
        <p:grpSpPr>
          <a:xfrm>
            <a:off x="7094150" y="1549068"/>
            <a:ext cx="4799457" cy="5096027"/>
            <a:chOff x="666750" y="5143500"/>
            <a:chExt cx="10858500" cy="895800"/>
          </a:xfrm>
        </p:grpSpPr>
        <p:sp>
          <p:nvSpPr>
            <p:cNvPr id="176" name="Google Shape;176;p19"/>
            <p:cNvSpPr/>
            <p:nvPr/>
          </p:nvSpPr>
          <p:spPr>
            <a:xfrm>
              <a:off x="666750" y="5143500"/>
              <a:ext cx="10858500" cy="8958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9"/>
            <p:cNvSpPr txBox="1"/>
            <p:nvPr/>
          </p:nvSpPr>
          <p:spPr>
            <a:xfrm>
              <a:off x="1257869" y="5200486"/>
              <a:ext cx="9553800" cy="78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Sản phẩm chủ lực &amp; Mùa vụ: </a:t>
              </a:r>
              <a:r>
                <a:rPr lang="en-US" sz="1418">
                  <a:solidFill>
                    <a:srgbClr val="374151"/>
                  </a:solidFill>
                  <a:latin typeface="Be Vietnam Pro"/>
                  <a:ea typeface="Be Vietnam Pro"/>
                  <a:cs typeface="Be Vietnam Pro"/>
                  <a:sym typeface="Be Vietnam Pro"/>
                </a:rPr>
                <a:t>Mr. Fuzzy là sản phẩm lõi duy trì dòng tiền quanh năm. Toàn bộ danh mục đều đạt đỉnh doanh thu vào dịp Lễ hội cuối năm (Tháng 11-12) nhưng luôn chạm đáy vào Tháng 3 năm sau.</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Hiệu ứng Valentine:</a:t>
              </a:r>
              <a:r>
                <a:rPr lang="en-US" sz="1418">
                  <a:solidFill>
                    <a:srgbClr val="374151"/>
                  </a:solidFill>
                  <a:latin typeface="Be Vietnam Pro"/>
                  <a:ea typeface="Be Vietnam Pro"/>
                  <a:cs typeface="Be Vietnam Pro"/>
                  <a:sym typeface="Be Vietnam Pro"/>
                </a:rPr>
                <a:t> Forever Love Bear có tính chu kỳ cực mạnh, doanh thu luôn tăng vọt đột biến (gấp 2-3 lần) vào Tháng 2 hàng năm.</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t/>
              </a:r>
              <a:endParaRPr sz="1418">
                <a:solidFill>
                  <a:srgbClr val="374151"/>
                </a:solidFill>
                <a:latin typeface="Be Vietnam Pro"/>
                <a:ea typeface="Be Vietnam Pro"/>
                <a:cs typeface="Be Vietnam Pro"/>
                <a:sym typeface="Be Vietnam Pro"/>
              </a:endParaRPr>
            </a:p>
            <a:p>
              <a:pPr indent="0" lvl="0" marL="0" rtl="0" algn="l">
                <a:spcBef>
                  <a:spcPts val="0"/>
                </a:spcBef>
                <a:spcAft>
                  <a:spcPts val="0"/>
                </a:spcAft>
                <a:buNone/>
              </a:pPr>
              <a:r>
                <a:rPr b="1" lang="en-US" sz="1418">
                  <a:solidFill>
                    <a:srgbClr val="374151"/>
                  </a:solidFill>
                  <a:latin typeface="Be Vietnam Pro"/>
                  <a:ea typeface="Be Vietnam Pro"/>
                  <a:cs typeface="Be Vietnam Pro"/>
                  <a:sym typeface="Be Vietnam Pro"/>
                </a:rPr>
                <a:t>Chiến lược mở rộng danh mục:</a:t>
              </a:r>
              <a:r>
                <a:rPr lang="en-US" sz="1418">
                  <a:solidFill>
                    <a:srgbClr val="374151"/>
                  </a:solidFill>
                  <a:latin typeface="Be Vietnam Pro"/>
                  <a:ea typeface="Be Vietnam Pro"/>
                  <a:cs typeface="Be Vietnam Pro"/>
                  <a:sym typeface="Be Vietnam Pro"/>
                </a:rPr>
                <a:t> Việc ra mắt các dòng sản phẩm mới (Gấu Sinh nhật, Gấu Mini) giúp gia tăng tổng doanh thu mà không gây hiện tượng "tự ăn lạm" (Cannibalization) lên sản phẩm lõi. Doanh nghiệp đang chia nhỏ tệp khách hàng rất tốt, mỗi sản phẩm đánh trúng một ngách nhu cầu độc lập.</a:t>
              </a:r>
              <a:endParaRPr sz="1418">
                <a:solidFill>
                  <a:srgbClr val="374151"/>
                </a:solidFill>
                <a:latin typeface="Be Vietnam Pro"/>
                <a:ea typeface="Be Vietnam Pro"/>
                <a:cs typeface="Be Vietnam Pro"/>
                <a:sym typeface="Be Vietnam Pro"/>
              </a:endParaRPr>
            </a:p>
          </p:txBody>
        </p:sp>
      </p:grpSp>
      <p:pic>
        <p:nvPicPr>
          <p:cNvPr id="178" name="Google Shape;178;p19" title="Chart"/>
          <p:cNvPicPr preferRelativeResize="0"/>
          <p:nvPr/>
        </p:nvPicPr>
        <p:blipFill>
          <a:blip r:embed="rId3">
            <a:alphaModFix/>
          </a:blip>
          <a:stretch>
            <a:fillRect/>
          </a:stretch>
        </p:blipFill>
        <p:spPr>
          <a:xfrm>
            <a:off x="152400" y="1437175"/>
            <a:ext cx="6757026" cy="5005199"/>
          </a:xfrm>
          <a:prstGeom prst="rect">
            <a:avLst/>
          </a:prstGeom>
          <a:noFill/>
          <a:ln>
            <a:noFill/>
          </a:ln>
        </p:spPr>
      </p:pic>
      <p:sp>
        <p:nvSpPr>
          <p:cNvPr id="179" name="Google Shape;179;p19"/>
          <p:cNvSpPr/>
          <p:nvPr/>
        </p:nvSpPr>
        <p:spPr>
          <a:xfrm>
            <a:off x="2496239" y="5421416"/>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p19"/>
          <p:cNvSpPr/>
          <p:nvPr/>
        </p:nvSpPr>
        <p:spPr>
          <a:xfrm>
            <a:off x="4453103" y="4938141"/>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1" name="Google Shape;181;p19"/>
          <p:cNvSpPr/>
          <p:nvPr/>
        </p:nvSpPr>
        <p:spPr>
          <a:xfrm>
            <a:off x="6409234" y="4150312"/>
            <a:ext cx="226800" cy="207900"/>
          </a:xfrm>
          <a:prstGeom prst="ellipse">
            <a:avLst/>
          </a:prstGeom>
          <a:noFill/>
          <a:ln cap="flat" cmpd="sng" w="19050">
            <a:solidFill>
              <a:srgbClr val="59BB7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182" name="Google Shape;182;p19"/>
          <p:cNvCxnSpPr/>
          <p:nvPr/>
        </p:nvCxnSpPr>
        <p:spPr>
          <a:xfrm>
            <a:off x="1596425" y="4902725"/>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3" name="Google Shape;183;p19"/>
          <p:cNvCxnSpPr/>
          <p:nvPr/>
        </p:nvCxnSpPr>
        <p:spPr>
          <a:xfrm>
            <a:off x="3575300" y="4477650"/>
            <a:ext cx="888000" cy="528900"/>
          </a:xfrm>
          <a:prstGeom prst="straightConnector1">
            <a:avLst/>
          </a:prstGeom>
          <a:noFill/>
          <a:ln cap="flat" cmpd="sng" w="19050">
            <a:solidFill>
              <a:srgbClr val="59BB73"/>
            </a:solidFill>
            <a:prstDash val="solid"/>
            <a:round/>
            <a:headEnd len="med" w="med" type="none"/>
            <a:tailEnd len="med" w="med" type="triangle"/>
          </a:ln>
        </p:spPr>
      </p:cxnSp>
      <p:cxnSp>
        <p:nvCxnSpPr>
          <p:cNvPr id="184" name="Google Shape;184;p19"/>
          <p:cNvCxnSpPr/>
          <p:nvPr/>
        </p:nvCxnSpPr>
        <p:spPr>
          <a:xfrm>
            <a:off x="5521225" y="3675325"/>
            <a:ext cx="888000" cy="528900"/>
          </a:xfrm>
          <a:prstGeom prst="straightConnector1">
            <a:avLst/>
          </a:prstGeom>
          <a:noFill/>
          <a:ln cap="flat" cmpd="sng" w="19050">
            <a:solidFill>
              <a:srgbClr val="59BB73"/>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0"/>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20"/>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Lợi Nhuận Thực Tế Theo Sản Phẩm</a:t>
            </a:r>
            <a:endParaRPr b="1" sz="2850">
              <a:solidFill>
                <a:srgbClr val="0B2239"/>
              </a:solidFill>
              <a:latin typeface="Be Vietnam Pro"/>
              <a:ea typeface="Be Vietnam Pro"/>
              <a:cs typeface="Be Vietnam Pro"/>
              <a:sym typeface="Be Vietnam Pro"/>
            </a:endParaRPr>
          </a:p>
        </p:txBody>
      </p:sp>
      <p:sp>
        <p:nvSpPr>
          <p:cNvPr id="190" name="Google Shape;190;p20"/>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20"/>
          <p:cNvGrpSpPr/>
          <p:nvPr/>
        </p:nvGrpSpPr>
        <p:grpSpPr>
          <a:xfrm>
            <a:off x="666750" y="5270400"/>
            <a:ext cx="10858500" cy="1337100"/>
            <a:chOff x="666750" y="4702225"/>
            <a:chExt cx="10858500" cy="1337100"/>
          </a:xfrm>
        </p:grpSpPr>
        <p:sp>
          <p:nvSpPr>
            <p:cNvPr id="192" name="Google Shape;192;p20"/>
            <p:cNvSpPr/>
            <p:nvPr/>
          </p:nvSpPr>
          <p:spPr>
            <a:xfrm>
              <a:off x="666750" y="4702225"/>
              <a:ext cx="10858500" cy="133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20"/>
            <p:cNvSpPr txBox="1"/>
            <p:nvPr/>
          </p:nvSpPr>
          <p:spPr>
            <a:xfrm>
              <a:off x="952500" y="4857600"/>
              <a:ext cx="1143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18">
                  <a:solidFill>
                    <a:srgbClr val="374151"/>
                  </a:solidFill>
                  <a:latin typeface="Inter"/>
                  <a:ea typeface="Inter"/>
                  <a:cs typeface="Inter"/>
                  <a:sym typeface="Inter"/>
                </a:rPr>
                <a:t>Deep Insight:</a:t>
              </a:r>
              <a:endParaRPr b="1" sz="1318">
                <a:solidFill>
                  <a:srgbClr val="374151"/>
                </a:solidFill>
                <a:latin typeface="Inter"/>
                <a:ea typeface="Inter"/>
                <a:cs typeface="Inter"/>
                <a:sym typeface="Inter"/>
              </a:endParaRPr>
            </a:p>
          </p:txBody>
        </p:sp>
        <p:sp>
          <p:nvSpPr>
            <p:cNvPr id="194" name="Google Shape;194;p20"/>
            <p:cNvSpPr txBox="1"/>
            <p:nvPr/>
          </p:nvSpPr>
          <p:spPr>
            <a:xfrm>
              <a:off x="952500" y="5143500"/>
              <a:ext cx="10287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i="0" lang="en-US" sz="1318">
                  <a:solidFill>
                    <a:srgbClr val="374151"/>
                  </a:solidFill>
                  <a:latin typeface="Be Vietnam Pro"/>
                  <a:ea typeface="Be Vietnam Pro"/>
                  <a:cs typeface="Be Vietnam Pro"/>
                  <a:sym typeface="Be Vietnam Pro"/>
                </a:rPr>
                <a:t>Mặc dù "Mr. Fuzzy" tạo ra $1.2M doanh thu, nhưng chi phí vận hành (COGS) kết hợp với tỷ lệ hoàn tiền khổng lồ (5.1% tương đương 1,237 đơn) đã kéo tụt Biên lợi nhuận ròng xuống 55%. Ngược lại, "</a:t>
              </a:r>
              <a:r>
                <a:rPr lang="en-US" sz="1318">
                  <a:solidFill>
                    <a:srgbClr val="374151"/>
                  </a:solidFill>
                  <a:latin typeface="Be Vietnam Pro"/>
                  <a:ea typeface="Be Vietnam Pro"/>
                  <a:cs typeface="Be Vietnam Pro"/>
                  <a:sym typeface="Be Vietnam Pro"/>
                </a:rPr>
                <a:t>Hudson</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River Mini</a:t>
              </a:r>
              <a:r>
                <a:rPr b="0" i="0" lang="en-US" sz="1318">
                  <a:solidFill>
                    <a:srgbClr val="374151"/>
                  </a:solidFill>
                  <a:latin typeface="Be Vietnam Pro"/>
                  <a:ea typeface="Be Vietnam Pro"/>
                  <a:cs typeface="Be Vietnam Pro"/>
                  <a:sym typeface="Be Vietnam Pro"/>
                </a:rPr>
                <a:t> Bear" là </a:t>
              </a:r>
              <a:r>
                <a:rPr b="1" lang="en-US" sz="1318" u="sng">
                  <a:solidFill>
                    <a:srgbClr val="374151"/>
                  </a:solidFill>
                  <a:latin typeface="Be Vietnam Pro"/>
                  <a:ea typeface="Be Vietnam Pro"/>
                  <a:cs typeface="Be Vietnam Pro"/>
                  <a:sym typeface="Be Vietnam Pro"/>
                </a:rPr>
                <a:t>sản phẩm mới</a:t>
              </a:r>
              <a:r>
                <a:rPr b="0" i="0" lang="en-US" sz="1318">
                  <a:solidFill>
                    <a:srgbClr val="374151"/>
                  </a:solidFill>
                  <a:latin typeface="Be Vietnam Pro"/>
                  <a:ea typeface="Be Vietnam Pro"/>
                  <a:cs typeface="Be Vietnam Pro"/>
                  <a:sym typeface="Be Vietnam Pro"/>
                </a:rPr>
                <a:t> </a:t>
              </a:r>
              <a:r>
                <a:rPr lang="en-US" sz="1318">
                  <a:solidFill>
                    <a:srgbClr val="374151"/>
                  </a:solidFill>
                  <a:latin typeface="Be Vietnam Pro"/>
                  <a:ea typeface="Be Vietnam Pro"/>
                  <a:cs typeface="Be Vietnam Pro"/>
                  <a:sym typeface="Be Vietnam Pro"/>
                </a:rPr>
                <a:t>có </a:t>
              </a:r>
              <a:r>
                <a:rPr b="0" i="0" lang="en-US" sz="1318">
                  <a:solidFill>
                    <a:srgbClr val="374151"/>
                  </a:solidFill>
                  <a:latin typeface="Be Vietnam Pro"/>
                  <a:ea typeface="Be Vietnam Pro"/>
                  <a:cs typeface="Be Vietnam Pro"/>
                  <a:sym typeface="Be Vietnam Pro"/>
                </a:rPr>
                <a:t>ti</a:t>
              </a:r>
              <a:r>
                <a:rPr lang="en-US" sz="1318">
                  <a:solidFill>
                    <a:srgbClr val="374151"/>
                  </a:solidFill>
                  <a:latin typeface="Be Vietnam Pro"/>
                  <a:ea typeface="Be Vietnam Pro"/>
                  <a:cs typeface="Be Vietnam Pro"/>
                  <a:sym typeface="Be Vietnam Pro"/>
                </a:rPr>
                <a:t>ềm năng </a:t>
              </a:r>
              <a:r>
                <a:rPr b="0" i="0" lang="en-US" sz="1318">
                  <a:solidFill>
                    <a:srgbClr val="374151"/>
                  </a:solidFill>
                  <a:latin typeface="Be Vietnam Pro"/>
                  <a:ea typeface="Be Vietnam Pro"/>
                  <a:cs typeface="Be Vietnam Pro"/>
                  <a:sym typeface="Be Vietnam Pro"/>
                </a:rPr>
                <a:t>với Biên </a:t>
              </a:r>
              <a:r>
                <a:rPr lang="en-US" sz="1318">
                  <a:solidFill>
                    <a:srgbClr val="374151"/>
                  </a:solidFill>
                  <a:latin typeface="Be Vietnam Pro"/>
                  <a:ea typeface="Be Vietnam Pro"/>
                  <a:cs typeface="Be Vietnam Pro"/>
                  <a:sym typeface="Be Vietnam Pro"/>
                </a:rPr>
                <a:t>lợi nhuận</a:t>
              </a:r>
              <a:r>
                <a:rPr b="0" i="0" lang="en-US" sz="1318">
                  <a:solidFill>
                    <a:srgbClr val="374151"/>
                  </a:solidFill>
                  <a:latin typeface="Be Vietnam Pro"/>
                  <a:ea typeface="Be Vietnam Pro"/>
                  <a:cs typeface="Be Vietnam Pro"/>
                  <a:sym typeface="Be Vietnam Pro"/>
                </a:rPr>
                <a:t> thực tế đạt </a:t>
              </a:r>
              <a:r>
                <a:rPr lang="en-US" sz="1318">
                  <a:solidFill>
                    <a:srgbClr val="374151"/>
                  </a:solidFill>
                  <a:latin typeface="Be Vietnam Pro"/>
                  <a:ea typeface="Be Vietnam Pro"/>
                  <a:cs typeface="Be Vietnam Pro"/>
                  <a:sym typeface="Be Vietnam Pro"/>
                </a:rPr>
                <a:t>67</a:t>
              </a:r>
              <a:r>
                <a:rPr b="0" i="0" lang="en-US" sz="1318">
                  <a:solidFill>
                    <a:srgbClr val="374151"/>
                  </a:solidFill>
                  <a:latin typeface="Be Vietnam Pro"/>
                  <a:ea typeface="Be Vietnam Pro"/>
                  <a:cs typeface="Be Vietnam Pro"/>
                  <a:sym typeface="Be Vietnam Pro"/>
                </a:rPr>
                <a:t>.28%.</a:t>
              </a:r>
              <a:endParaRPr b="0" i="0" sz="1318">
                <a:solidFill>
                  <a:srgbClr val="374151"/>
                </a:solidFill>
                <a:latin typeface="Be Vietnam Pro"/>
                <a:ea typeface="Be Vietnam Pro"/>
                <a:cs typeface="Be Vietnam Pro"/>
                <a:sym typeface="Be Vietnam Pro"/>
              </a:endParaRPr>
            </a:p>
          </p:txBody>
        </p:sp>
      </p:grpSp>
      <p:sp>
        <p:nvSpPr>
          <p:cNvPr id="195" name="Google Shape;195;p20"/>
          <p:cNvSpPr/>
          <p:nvPr/>
        </p:nvSpPr>
        <p:spPr>
          <a:xfrm rot="5400000">
            <a:off x="4619277"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96" name="Google Shape;196;p20" title="Chart"/>
          <p:cNvPicPr preferRelativeResize="0"/>
          <p:nvPr/>
        </p:nvPicPr>
        <p:blipFill>
          <a:blip r:embed="rId3">
            <a:alphaModFix/>
          </a:blip>
          <a:stretch>
            <a:fillRect/>
          </a:stretch>
        </p:blipFill>
        <p:spPr>
          <a:xfrm>
            <a:off x="427550" y="1291738"/>
            <a:ext cx="5323952" cy="3829989"/>
          </a:xfrm>
          <a:prstGeom prst="rect">
            <a:avLst/>
          </a:prstGeom>
          <a:noFill/>
          <a:ln>
            <a:noFill/>
          </a:ln>
        </p:spPr>
      </p:pic>
      <p:pic>
        <p:nvPicPr>
          <p:cNvPr id="197" name="Google Shape;197;p20" title="Chart"/>
          <p:cNvPicPr preferRelativeResize="0"/>
          <p:nvPr/>
        </p:nvPicPr>
        <p:blipFill>
          <a:blip r:embed="rId4">
            <a:alphaModFix/>
          </a:blip>
          <a:stretch>
            <a:fillRect/>
          </a:stretch>
        </p:blipFill>
        <p:spPr>
          <a:xfrm>
            <a:off x="6230252" y="1252675"/>
            <a:ext cx="5432575" cy="39081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pic>
        <p:nvPicPr>
          <p:cNvPr descr="image.png" id="202" name="Google Shape;202;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1"/>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04" name="Google Shape;204;p21"/>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p:nvPr/>
        </p:nvSpPr>
        <p:spPr>
          <a:xfrm>
            <a:off x="5715000" y="2620416"/>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1"/>
          <p:cNvSpPr txBox="1"/>
          <p:nvPr/>
        </p:nvSpPr>
        <p:spPr>
          <a:xfrm>
            <a:off x="952500" y="2857500"/>
            <a:ext cx="10287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3885">
                <a:solidFill>
                  <a:srgbClr val="FFFFFF"/>
                </a:solidFill>
                <a:latin typeface="Be Vietnam Pro"/>
                <a:ea typeface="Be Vietnam Pro"/>
                <a:cs typeface="Be Vietnam Pro"/>
                <a:sym typeface="Be Vietnam Pro"/>
              </a:rPr>
              <a:t>Phần 2: Hiệu Suất Traffic &amp; Chuyển Đổi</a:t>
            </a:r>
            <a:endParaRPr b="1" sz="3885">
              <a:solidFill>
                <a:srgbClr val="FFFFFF"/>
              </a:solidFill>
              <a:latin typeface="Be Vietnam Pro"/>
              <a:ea typeface="Be Vietnam Pro"/>
              <a:cs typeface="Be Vietnam Pro"/>
              <a:sym typeface="Be Vietnam Pro"/>
            </a:endParaRPr>
          </a:p>
        </p:txBody>
      </p:sp>
      <p:sp>
        <p:nvSpPr>
          <p:cNvPr id="207" name="Google Shape;207;p21"/>
          <p:cNvSpPr txBox="1"/>
          <p:nvPr/>
        </p:nvSpPr>
        <p:spPr>
          <a:xfrm>
            <a:off x="1809750" y="3810000"/>
            <a:ext cx="8572500" cy="666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CA3AF"/>
                </a:solidFill>
                <a:latin typeface="Be Vietnam Pro"/>
                <a:ea typeface="Be Vietnam Pro"/>
                <a:cs typeface="Be Vietnam Pro"/>
                <a:sym typeface="Be Vietnam Pro"/>
              </a:rPr>
              <a:t>Phân tích đa chiều về nguồn truy cập, hành vi người dùng và tối ưu hóa tỷ lệ chuyển đổi (CR) trên các nền tảng thiết bị.</a:t>
            </a:r>
            <a:endParaRPr b="0" sz="2000">
              <a:solidFill>
                <a:srgbClr val="9CA3AF"/>
              </a:solidFill>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id="211" name="Google Shape;211;p22" title="Chart"/>
          <p:cNvPicPr preferRelativeResize="0"/>
          <p:nvPr/>
        </p:nvPicPr>
        <p:blipFill>
          <a:blip r:embed="rId3">
            <a:alphaModFix/>
          </a:blip>
          <a:stretch>
            <a:fillRect/>
          </a:stretch>
        </p:blipFill>
        <p:spPr>
          <a:xfrm>
            <a:off x="6441399" y="1290000"/>
            <a:ext cx="4928949" cy="4066358"/>
          </a:xfrm>
          <a:prstGeom prst="rect">
            <a:avLst/>
          </a:prstGeom>
          <a:noFill/>
          <a:ln>
            <a:noFill/>
          </a:ln>
        </p:spPr>
      </p:pic>
      <p:sp>
        <p:nvSpPr>
          <p:cNvPr id="212" name="Google Shape;212;p22"/>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2"/>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Tổng Quan Phân Phối Traffic</a:t>
            </a:r>
            <a:endParaRPr b="1" sz="2850">
              <a:solidFill>
                <a:srgbClr val="0B2239"/>
              </a:solidFill>
              <a:latin typeface="Be Vietnam Pro"/>
              <a:ea typeface="Be Vietnam Pro"/>
              <a:cs typeface="Be Vietnam Pro"/>
              <a:sym typeface="Be Vietnam Pro"/>
            </a:endParaRPr>
          </a:p>
        </p:txBody>
      </p:sp>
      <p:sp>
        <p:nvSpPr>
          <p:cNvPr id="214" name="Google Shape;214;p22"/>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5" name="Google Shape;215;p22" title="Chart"/>
          <p:cNvPicPr preferRelativeResize="0"/>
          <p:nvPr/>
        </p:nvPicPr>
        <p:blipFill>
          <a:blip r:embed="rId4">
            <a:alphaModFix/>
          </a:blip>
          <a:stretch>
            <a:fillRect/>
          </a:stretch>
        </p:blipFill>
        <p:spPr>
          <a:xfrm>
            <a:off x="821650" y="1290000"/>
            <a:ext cx="4928949" cy="4066375"/>
          </a:xfrm>
          <a:prstGeom prst="rect">
            <a:avLst/>
          </a:prstGeom>
          <a:solidFill>
            <a:srgbClr val="F9FAFB"/>
          </a:solidFill>
          <a:ln>
            <a:noFill/>
          </a:ln>
        </p:spPr>
      </p:pic>
      <p:pic>
        <p:nvPicPr>
          <p:cNvPr descr="A minimalist 3d isometric illustration of a laptop and a smartphone side by side, clean studio lighting, soft shadows, business blue color palette." id="216" name="Google Shape;216;p22"/>
          <p:cNvPicPr preferRelativeResize="0"/>
          <p:nvPr/>
        </p:nvPicPr>
        <p:blipFill rotWithShape="1">
          <a:blip r:embed="rId5">
            <a:alphaModFix/>
          </a:blip>
          <a:srcRect b="3335" l="0" r="3335" t="0"/>
          <a:stretch/>
        </p:blipFill>
        <p:spPr>
          <a:xfrm>
            <a:off x="7728827" y="2295683"/>
            <a:ext cx="2354100" cy="2354400"/>
          </a:xfrm>
          <a:prstGeom prst="ellipse">
            <a:avLst/>
          </a:prstGeom>
          <a:noFill/>
          <a:ln>
            <a:noFill/>
          </a:ln>
        </p:spPr>
      </p:pic>
      <p:sp>
        <p:nvSpPr>
          <p:cNvPr id="217" name="Google Shape;217;p22"/>
          <p:cNvSpPr/>
          <p:nvPr/>
        </p:nvSpPr>
        <p:spPr>
          <a:xfrm>
            <a:off x="821650" y="5503307"/>
            <a:ext cx="10858500" cy="1259548"/>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Sự thống trị của Google Search</a:t>
            </a:r>
            <a:r>
              <a:rPr lang="en-US">
                <a:solidFill>
                  <a:srgbClr val="1F1F1F"/>
                </a:solidFill>
                <a:latin typeface="Be Vietnam Pro"/>
                <a:ea typeface="Be Vietnam Pro"/>
                <a:cs typeface="Be Vietnam Pro"/>
                <a:sym typeface="Be Vietnam Pro"/>
              </a:rPr>
              <a:t>: </a:t>
            </a:r>
            <a:r>
              <a:rPr lang="en-US">
                <a:solidFill>
                  <a:srgbClr val="102239"/>
                </a:solidFill>
                <a:highlight>
                  <a:srgbClr val="D9D9D9"/>
                </a:highlight>
                <a:latin typeface="Be Vietnam Pro"/>
                <a:ea typeface="Be Vietnam Pro"/>
                <a:cs typeface="Be Vietnam Pro"/>
                <a:sym typeface="Be Vietnam Pro"/>
              </a:rPr>
              <a:t>Google search</a:t>
            </a:r>
            <a:r>
              <a:rPr lang="en-US">
                <a:solidFill>
                  <a:srgbClr val="1F1F1F"/>
                </a:solidFill>
                <a:latin typeface="Be Vietnam Pro"/>
                <a:ea typeface="Be Vietnam Pro"/>
                <a:cs typeface="Be Vietnam Pro"/>
                <a:sym typeface="Be Vietnam Pro"/>
              </a:rPr>
              <a:t> là nguồn traffic lớn nhất (66.8%).</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Organic Traffic</a:t>
            </a:r>
            <a:r>
              <a:rPr lang="en-US">
                <a:solidFill>
                  <a:srgbClr val="1F1F1F"/>
                </a:solidFill>
                <a:latin typeface="Be Vietnam Pro"/>
                <a:ea typeface="Be Vietnam Pro"/>
                <a:cs typeface="Be Vietnam Pro"/>
                <a:sym typeface="Be Vietnam Pro"/>
              </a:rPr>
              <a:t>: 17.6% ổn định cho thấy có lượng khách hàng tự tìm tới.</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Ưu thế tuyệt đối của Desktop</a:t>
            </a:r>
            <a:r>
              <a:rPr lang="en-US">
                <a:solidFill>
                  <a:srgbClr val="1F1F1F"/>
                </a:solidFill>
                <a:latin typeface="Be Vietnam Pro"/>
                <a:ea typeface="Be Vietnam Pro"/>
                <a:cs typeface="Be Vietnam Pro"/>
                <a:sym typeface="Be Vietnam Pro"/>
              </a:rPr>
              <a:t>: Gần 70% người dùng truy cập từ máy tính.</a:t>
            </a:r>
            <a:endParaRPr>
              <a:solidFill>
                <a:srgbClr val="1F1F1F"/>
              </a:solidFill>
              <a:latin typeface="Be Vietnam Pro"/>
              <a:ea typeface="Be Vietnam Pro"/>
              <a:cs typeface="Be Vietnam Pro"/>
              <a:sym typeface="Be Vietnam Pro"/>
            </a:endParaRPr>
          </a:p>
          <a:p>
            <a:pPr indent="0" lvl="0" marL="0" rtl="0" algn="l">
              <a:lnSpc>
                <a:spcPct val="115000"/>
              </a:lnSpc>
              <a:spcBef>
                <a:spcPts val="0"/>
              </a:spcBef>
              <a:spcAft>
                <a:spcPts val="0"/>
              </a:spcAft>
              <a:buNone/>
            </a:pPr>
            <a:r>
              <a:rPr lang="en-US">
                <a:solidFill>
                  <a:srgbClr val="1F1F1F"/>
                </a:solidFill>
                <a:latin typeface="Be Vietnam Pro"/>
                <a:ea typeface="Be Vietnam Pro"/>
                <a:cs typeface="Be Vietnam Pro"/>
                <a:sym typeface="Be Vietnam Pro"/>
              </a:rPr>
              <a:t>   ⇒ 	Website phụ thuộc rất lớn vào tìm kiếm trả phí/SEO từ Google.</a:t>
            </a:r>
            <a:endParaRPr/>
          </a:p>
        </p:txBody>
      </p:sp>
      <p:sp>
        <p:nvSpPr>
          <p:cNvPr id="218" name="Google Shape;218;p22"/>
          <p:cNvSpPr/>
          <p:nvPr/>
        </p:nvSpPr>
        <p:spPr>
          <a:xfrm rot="5400000">
            <a:off x="4724399" y="3424212"/>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title="Chart"/>
          <p:cNvPicPr preferRelativeResize="0"/>
          <p:nvPr/>
        </p:nvPicPr>
        <p:blipFill>
          <a:blip r:embed="rId3">
            <a:alphaModFix/>
          </a:blip>
          <a:stretch>
            <a:fillRect/>
          </a:stretch>
        </p:blipFill>
        <p:spPr>
          <a:xfrm>
            <a:off x="2304463" y="1104975"/>
            <a:ext cx="7583076" cy="4405225"/>
          </a:xfrm>
          <a:prstGeom prst="rect">
            <a:avLst/>
          </a:prstGeom>
          <a:noFill/>
          <a:ln>
            <a:noFill/>
          </a:ln>
        </p:spPr>
      </p:pic>
      <p:sp>
        <p:nvSpPr>
          <p:cNvPr id="223" name="Google Shape;223;p23"/>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23"/>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So Sánh Hiệu Suất Chuyển Đổi (CR%) Theo Nguồn &amp; Thiết Bị</a:t>
            </a:r>
            <a:endParaRPr b="1" sz="2850">
              <a:solidFill>
                <a:srgbClr val="0B2239"/>
              </a:solidFill>
              <a:latin typeface="Be Vietnam Pro"/>
              <a:ea typeface="Be Vietnam Pro"/>
              <a:cs typeface="Be Vietnam Pro"/>
              <a:sym typeface="Be Vietnam Pro"/>
            </a:endParaRPr>
          </a:p>
        </p:txBody>
      </p:sp>
      <p:sp>
        <p:nvSpPr>
          <p:cNvPr id="225" name="Google Shape;225;p23"/>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23"/>
          <p:cNvSpPr/>
          <p:nvPr/>
        </p:nvSpPr>
        <p:spPr>
          <a:xfrm>
            <a:off x="832125" y="5500600"/>
            <a:ext cx="10858500" cy="11040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Organic Desktop có tỷ lệ chuyển đổi cao nhất (9.89%)</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CR gap lớn giữa 2 thiết bị: Trên Desktop cao hơn Mobile khoảng 3 lần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Be Vietnam Pro"/>
              <a:buChar char="●"/>
            </a:pPr>
            <a:r>
              <a:rPr lang="en-US">
                <a:solidFill>
                  <a:srgbClr val="1F1F1F"/>
                </a:solidFill>
                <a:latin typeface="Be Vietnam Pro"/>
                <a:ea typeface="Be Vietnam Pro"/>
                <a:cs typeface="Be Vietnam Pro"/>
                <a:sym typeface="Be Vietnam Pro"/>
              </a:rPr>
              <a:t>Mọi nguồn traffic Mobile có CR rất thấp (~3%), nguồn Social Book trên Mobile gần như không hiệu quả (0.83%).</a:t>
            </a:r>
            <a:endParaRPr b="1">
              <a:solidFill>
                <a:srgbClr val="1F1F1F"/>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4"/>
          <p:cNvSpPr/>
          <p:nvPr/>
        </p:nvSpPr>
        <p:spPr>
          <a:xfrm>
            <a:off x="666750" y="10953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4"/>
          <p:cNvSpPr/>
          <p:nvPr/>
        </p:nvSpPr>
        <p:spPr>
          <a:xfrm>
            <a:off x="832125" y="4727275"/>
            <a:ext cx="10858500" cy="1877100"/>
          </a:xfrm>
          <a:prstGeom prst="roundRect">
            <a:avLst>
              <a:gd fmla="val 6666"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317500" lvl="0" marL="457200" rtl="0" algn="l">
              <a:lnSpc>
                <a:spcPct val="115000"/>
              </a:lnSpc>
              <a:spcBef>
                <a:spcPts val="120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Hiệu suất Mobile ở mức báo động:</a:t>
            </a:r>
            <a:r>
              <a:rPr lang="en-US">
                <a:solidFill>
                  <a:srgbClr val="1F1F1F"/>
                </a:solidFill>
                <a:highlight>
                  <a:srgbClr val="F9FAFB"/>
                </a:highlight>
                <a:latin typeface="Be Vietnam Pro"/>
                <a:ea typeface="Be Vietnam Pro"/>
                <a:cs typeface="Be Vietnam Pro"/>
                <a:sym typeface="Be Vietnam Pro"/>
              </a:rPr>
              <a:t> Tỷ lệ chuyển đổi tổng thể (CR) trên Desktop là 8.5%, cao gấp </a:t>
            </a:r>
            <a:r>
              <a:rPr b="1" lang="en-US">
                <a:solidFill>
                  <a:srgbClr val="1F1F1F"/>
                </a:solidFill>
                <a:highlight>
                  <a:srgbClr val="F9FAFB"/>
                </a:highlight>
                <a:latin typeface="Be Vietnam Pro"/>
                <a:ea typeface="Be Vietnam Pro"/>
                <a:cs typeface="Be Vietnam Pro"/>
                <a:sym typeface="Be Vietnam Pro"/>
              </a:rPr>
              <a:t>~2.7 lần</a:t>
            </a:r>
            <a:r>
              <a:rPr lang="en-US">
                <a:solidFill>
                  <a:srgbClr val="1F1F1F"/>
                </a:solidFill>
                <a:highlight>
                  <a:srgbClr val="F9FAFB"/>
                </a:highlight>
                <a:latin typeface="Be Vietnam Pro"/>
                <a:ea typeface="Be Vietnam Pro"/>
                <a:cs typeface="Be Vietnam Pro"/>
                <a:sym typeface="Be Vietnam Pro"/>
              </a:rPr>
              <a:t> so với Mobile (3.1%).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Thất thoát sớm trên Mobile:</a:t>
            </a:r>
            <a:r>
              <a:rPr lang="en-US">
                <a:solidFill>
                  <a:srgbClr val="1F1F1F"/>
                </a:solidFill>
                <a:highlight>
                  <a:srgbClr val="F9FAFB"/>
                </a:highlight>
                <a:latin typeface="Be Vietnam Pro"/>
                <a:ea typeface="Be Vietnam Pro"/>
                <a:cs typeface="Be Vietnam Pro"/>
                <a:sym typeface="Be Vietnam Pro"/>
              </a:rPr>
              <a:t> Tỷ lệ khách hàng chuyển từ Xem sản phẩm đến Thêm vào Giỏ hàng trên Mobile chỉ đạt 28.7%, kém hơn Desktop (39.1%).</a:t>
            </a:r>
            <a:endParaRPr>
              <a:solidFill>
                <a:srgbClr val="1F1F1F"/>
              </a:solidFill>
              <a:highlight>
                <a:srgbClr val="F9FAFB"/>
              </a:highlight>
              <a:latin typeface="Be Vietnam Pro"/>
              <a:ea typeface="Be Vietnam Pro"/>
              <a:cs typeface="Be Vietnam Pro"/>
              <a:sym typeface="Be Vietnam Pro"/>
            </a:endParaRPr>
          </a:p>
          <a:p>
            <a:pPr indent="-317500" lvl="0" marL="457200" rtl="0" algn="l">
              <a:lnSpc>
                <a:spcPct val="115000"/>
              </a:lnSpc>
              <a:spcBef>
                <a:spcPts val="0"/>
              </a:spcBef>
              <a:spcAft>
                <a:spcPts val="0"/>
              </a:spcAft>
              <a:buClr>
                <a:srgbClr val="1F1F1F"/>
              </a:buClr>
              <a:buSzPts val="1400"/>
              <a:buFont typeface="Roboto"/>
              <a:buChar char="●"/>
            </a:pPr>
            <a:r>
              <a:rPr b="1" lang="en-US">
                <a:solidFill>
                  <a:srgbClr val="1F1F1F"/>
                </a:solidFill>
                <a:highlight>
                  <a:srgbClr val="F9FAFB"/>
                </a:highlight>
                <a:latin typeface="Be Vietnam Pro"/>
                <a:ea typeface="Be Vietnam Pro"/>
                <a:cs typeface="Be Vietnam Pro"/>
                <a:sym typeface="Be Vietnam Pro"/>
              </a:rPr>
              <a:t>Điểm nghẽn Giỏ hàng/Thanh toán:</a:t>
            </a:r>
            <a:r>
              <a:rPr lang="en-US">
                <a:solidFill>
                  <a:srgbClr val="1F1F1F"/>
                </a:solidFill>
                <a:highlight>
                  <a:srgbClr val="F9FAFB"/>
                </a:highlight>
                <a:latin typeface="Be Vietnam Pro"/>
                <a:ea typeface="Be Vietnam Pro"/>
                <a:cs typeface="Be Vietnam Pro"/>
                <a:sym typeface="Be Vietnam Pro"/>
              </a:rPr>
              <a:t> Tỷ lệ bỏ giỏ hàng từ Cart -&gt; Shipping và Billing -&gt; Thank You trên Mobile cao hơn Desktop rõ rệt (tỷ lệ drop-off = 1 - CR = lần lượt là 36.4% và 45.9%).</a:t>
            </a:r>
            <a:endParaRPr>
              <a:solidFill>
                <a:srgbClr val="1F1F1F"/>
              </a:solidFill>
              <a:highlight>
                <a:srgbClr val="F9FAFB"/>
              </a:highlight>
              <a:latin typeface="Be Vietnam Pro"/>
              <a:ea typeface="Be Vietnam Pro"/>
              <a:cs typeface="Be Vietnam Pro"/>
              <a:sym typeface="Be Vietnam Pro"/>
            </a:endParaRPr>
          </a:p>
        </p:txBody>
      </p:sp>
      <p:pic>
        <p:nvPicPr>
          <p:cNvPr id="233" name="Google Shape;233;p24" title="Chart"/>
          <p:cNvPicPr preferRelativeResize="0"/>
          <p:nvPr/>
        </p:nvPicPr>
        <p:blipFill>
          <a:blip r:embed="rId3">
            <a:alphaModFix/>
          </a:blip>
          <a:stretch>
            <a:fillRect/>
          </a:stretch>
        </p:blipFill>
        <p:spPr>
          <a:xfrm>
            <a:off x="574950" y="1249100"/>
            <a:ext cx="5619675" cy="3478175"/>
          </a:xfrm>
          <a:prstGeom prst="rect">
            <a:avLst/>
          </a:prstGeom>
          <a:noFill/>
          <a:ln>
            <a:noFill/>
          </a:ln>
        </p:spPr>
      </p:pic>
      <p:pic>
        <p:nvPicPr>
          <p:cNvPr id="234" name="Google Shape;234;p24" title="Chart"/>
          <p:cNvPicPr preferRelativeResize="0"/>
          <p:nvPr/>
        </p:nvPicPr>
        <p:blipFill>
          <a:blip r:embed="rId4">
            <a:alphaModFix/>
          </a:blip>
          <a:stretch>
            <a:fillRect/>
          </a:stretch>
        </p:blipFill>
        <p:spPr>
          <a:xfrm>
            <a:off x="6347025" y="1249100"/>
            <a:ext cx="5600776" cy="3466483"/>
          </a:xfrm>
          <a:prstGeom prst="rect">
            <a:avLst/>
          </a:prstGeom>
          <a:noFill/>
          <a:ln>
            <a:noFill/>
          </a:ln>
        </p:spPr>
      </p:pic>
      <p:sp>
        <p:nvSpPr>
          <p:cNvPr id="235" name="Google Shape;235;p24"/>
          <p:cNvSpPr/>
          <p:nvPr/>
        </p:nvSpPr>
        <p:spPr>
          <a:xfrm rot="5400000">
            <a:off x="4899225"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4"/>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Điểm Nghẽn</a:t>
            </a:r>
            <a:r>
              <a:rPr b="1" lang="en-US" sz="2850">
                <a:solidFill>
                  <a:srgbClr val="0B2239"/>
                </a:solidFill>
                <a:latin typeface="Be Vietnam Pro"/>
                <a:ea typeface="Be Vietnam Pro"/>
                <a:cs typeface="Be Vietnam Pro"/>
                <a:sym typeface="Be Vietnam Pro"/>
              </a:rPr>
              <a:t> Theo Thiết Bị</a:t>
            </a:r>
            <a:endParaRPr b="1" sz="2850">
              <a:solidFill>
                <a:srgbClr val="0B223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5"/>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5"/>
          <p:cNvSpPr txBox="1"/>
          <p:nvPr/>
        </p:nvSpPr>
        <p:spPr>
          <a:xfrm>
            <a:off x="666750" y="533400"/>
            <a:ext cx="10858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Xu Hướng Tỷ Lệ Drop-off Tại Giỏ Hàng</a:t>
            </a:r>
            <a:endParaRPr b="1" sz="2850">
              <a:solidFill>
                <a:srgbClr val="0B2239"/>
              </a:solidFill>
              <a:latin typeface="Be Vietnam Pro"/>
              <a:ea typeface="Be Vietnam Pro"/>
              <a:cs typeface="Be Vietnam Pro"/>
              <a:sym typeface="Be Vietnam Pro"/>
            </a:endParaRPr>
          </a:p>
        </p:txBody>
      </p:sp>
      <p:sp>
        <p:nvSpPr>
          <p:cNvPr id="242" name="Google Shape;242;p25"/>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5"/>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5"/>
          <p:cNvSpPr txBox="1"/>
          <p:nvPr/>
        </p:nvSpPr>
        <p:spPr>
          <a:xfrm>
            <a:off x="942025" y="5583825"/>
            <a:ext cx="10297500" cy="914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b="1" lang="en-US">
                <a:solidFill>
                  <a:srgbClr val="1F1F1F"/>
                </a:solidFill>
                <a:latin typeface="Be Vietnam Pro"/>
                <a:ea typeface="Be Vietnam Pro"/>
                <a:cs typeface="Be Vietnam Pro"/>
                <a:sym typeface="Be Vietnam Pro"/>
              </a:rPr>
              <a:t>Mobile tụt hậu và không ổn định:</a:t>
            </a:r>
            <a:r>
              <a:rPr lang="en-US">
                <a:solidFill>
                  <a:srgbClr val="1F1F1F"/>
                </a:solidFill>
                <a:latin typeface="Be Vietnam Pro"/>
                <a:ea typeface="Be Vietnam Pro"/>
                <a:cs typeface="Be Vietnam Pro"/>
                <a:sym typeface="Be Vietnam Pro"/>
              </a:rPr>
              <a:t> Mobile luôn có drop-off cao hơn Desktop từ 7% đến 10% (ở Product -&gt; Cart) và có tốc độ cải thiện chậm, biến động mạnh. Tỷ lệ drop-off ở bước Thanh toán (Billing -&gt; Order) trên Mobile có sự chênh lệch lớn nhất (lên đến 14% vào năm 2015) so với Desktop.</a:t>
            </a:r>
            <a:endParaRPr>
              <a:solidFill>
                <a:srgbClr val="374151"/>
              </a:solidFill>
              <a:latin typeface="Be Vietnam Pro"/>
              <a:ea typeface="Be Vietnam Pro"/>
              <a:cs typeface="Be Vietnam Pro"/>
              <a:sym typeface="Be Vietnam Pro"/>
            </a:endParaRPr>
          </a:p>
        </p:txBody>
      </p:sp>
      <p:pic>
        <p:nvPicPr>
          <p:cNvPr id="245" name="Google Shape;245;p25" title="Chart"/>
          <p:cNvPicPr preferRelativeResize="0"/>
          <p:nvPr/>
        </p:nvPicPr>
        <p:blipFill>
          <a:blip r:embed="rId4">
            <a:alphaModFix/>
          </a:blip>
          <a:stretch>
            <a:fillRect/>
          </a:stretch>
        </p:blipFill>
        <p:spPr>
          <a:xfrm>
            <a:off x="152400" y="1295475"/>
            <a:ext cx="5657039" cy="4097775"/>
          </a:xfrm>
          <a:prstGeom prst="rect">
            <a:avLst/>
          </a:prstGeom>
          <a:noFill/>
          <a:ln>
            <a:noFill/>
          </a:ln>
        </p:spPr>
      </p:pic>
      <p:pic>
        <p:nvPicPr>
          <p:cNvPr id="246" name="Google Shape;246;p25" title="Chart"/>
          <p:cNvPicPr preferRelativeResize="0"/>
          <p:nvPr/>
        </p:nvPicPr>
        <p:blipFill>
          <a:blip r:embed="rId5">
            <a:alphaModFix/>
          </a:blip>
          <a:stretch>
            <a:fillRect/>
          </a:stretch>
        </p:blipFill>
        <p:spPr>
          <a:xfrm>
            <a:off x="6021764" y="1295475"/>
            <a:ext cx="5657039" cy="4097775"/>
          </a:xfrm>
          <a:prstGeom prst="rect">
            <a:avLst/>
          </a:prstGeom>
          <a:noFill/>
          <a:ln>
            <a:noFill/>
          </a:ln>
        </p:spPr>
      </p:pic>
      <p:sp>
        <p:nvSpPr>
          <p:cNvPr id="247" name="Google Shape;247;p25"/>
          <p:cNvSpPr/>
          <p:nvPr/>
        </p:nvSpPr>
        <p:spPr>
          <a:xfrm rot="5400000">
            <a:off x="4544013" y="3084637"/>
            <a:ext cx="27432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6"/>
          <p:cNvSpPr/>
          <p:nvPr/>
        </p:nvSpPr>
        <p:spPr>
          <a:xfrm>
            <a:off x="666750" y="5484725"/>
            <a:ext cx="10858500" cy="1151400"/>
          </a:xfrm>
          <a:prstGeom prst="roundRect">
            <a:avLst>
              <a:gd fmla="val 8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6"/>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6"/>
          <p:cNvSpPr txBox="1"/>
          <p:nvPr/>
        </p:nvSpPr>
        <p:spPr>
          <a:xfrm>
            <a:off x="666750" y="1524000"/>
            <a:ext cx="10858500" cy="492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600">
                <a:solidFill>
                  <a:srgbClr val="374151"/>
                </a:solidFill>
                <a:latin typeface="Be Vietnam Pro"/>
                <a:ea typeface="Be Vietnam Pro"/>
                <a:cs typeface="Be Vietnam Pro"/>
                <a:sym typeface="Be Vietnam Pro"/>
              </a:rPr>
              <a:t>Dữ liệu thiết bị đã phơi bày một lỗ hổng kỹ thuật nghiêm trọng: Thiết kế luồng mua hàng (Purchasing Funnel) hiện tại không tương thích với trải nghiệm vuốt/chạm trên điện thoại di động.</a:t>
            </a:r>
            <a:endParaRPr b="0" i="0" sz="1600">
              <a:solidFill>
                <a:srgbClr val="374151"/>
              </a:solidFill>
              <a:latin typeface="Be Vietnam Pro"/>
              <a:ea typeface="Be Vietnam Pro"/>
              <a:cs typeface="Be Vietnam Pro"/>
              <a:sym typeface="Be Vietnam Pro"/>
            </a:endParaRPr>
          </a:p>
        </p:txBody>
      </p:sp>
      <p:sp>
        <p:nvSpPr>
          <p:cNvPr id="255" name="Google Shape;255;p26"/>
          <p:cNvSpPr txBox="1"/>
          <p:nvPr/>
        </p:nvSpPr>
        <p:spPr>
          <a:xfrm>
            <a:off x="868775" y="5631275"/>
            <a:ext cx="10477500" cy="7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US" sz="1400">
                <a:solidFill>
                  <a:srgbClr val="374151"/>
                </a:solidFill>
                <a:latin typeface="Be Vietnam Pro"/>
                <a:ea typeface="Be Vietnam Pro"/>
                <a:cs typeface="Be Vietnam Pro"/>
                <a:sym typeface="Be Vietnam Pro"/>
              </a:rPr>
              <a:t>Tác động:</a:t>
            </a:r>
            <a:r>
              <a:rPr b="0" i="0" lang="en-US" sz="1400">
                <a:solidFill>
                  <a:srgbClr val="374151"/>
                </a:solidFill>
                <a:latin typeface="Be Vietnam Pro"/>
                <a:ea typeface="Be Vietnam Pro"/>
                <a:cs typeface="Be Vietnam Pro"/>
                <a:sym typeface="Be Vietnam Pro"/>
              </a:rPr>
              <a:t> Chúng ta đang chi tiền mua Traffic Mobile đắt đỏ chỉ để khách hàng vào web rồi... bực tức thoát ra, gây lãng phí ngân sách marketing đáng kể.</a:t>
            </a:r>
            <a:endParaRPr b="1" i="0" sz="1400">
              <a:solidFill>
                <a:srgbClr val="374151"/>
              </a:solidFill>
              <a:latin typeface="Be Vietnam Pro"/>
              <a:ea typeface="Be Vietnam Pro"/>
              <a:cs typeface="Be Vietnam Pro"/>
              <a:sym typeface="Be Vietnam Pro"/>
            </a:endParaRPr>
          </a:p>
        </p:txBody>
      </p:sp>
      <p:sp>
        <p:nvSpPr>
          <p:cNvPr id="256" name="Google Shape;256;p26"/>
          <p:cNvSpPr txBox="1"/>
          <p:nvPr/>
        </p:nvSpPr>
        <p:spPr>
          <a:xfrm>
            <a:off x="666750" y="533400"/>
            <a:ext cx="11401500" cy="43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B2239"/>
                </a:solidFill>
                <a:latin typeface="Be Vietnam Pro"/>
                <a:ea typeface="Be Vietnam Pro"/>
                <a:cs typeface="Be Vietnam Pro"/>
                <a:sym typeface="Be Vietnam Pro"/>
              </a:rPr>
              <a:t>Khủng Hoảng Trải Nghiệm UX Trên Mobile</a:t>
            </a:r>
            <a:endParaRPr>
              <a:latin typeface="Be Vietnam Pro"/>
              <a:ea typeface="Be Vietnam Pro"/>
              <a:cs typeface="Be Vietnam Pro"/>
              <a:sym typeface="Be Vietnam Pro"/>
            </a:endParaRPr>
          </a:p>
        </p:txBody>
      </p:sp>
      <p:sp>
        <p:nvSpPr>
          <p:cNvPr id="257" name="Google Shape;257;p26"/>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58" name="Google Shape;258;p26"/>
          <p:cNvGrpSpPr/>
          <p:nvPr/>
        </p:nvGrpSpPr>
        <p:grpSpPr>
          <a:xfrm>
            <a:off x="666750" y="2667000"/>
            <a:ext cx="3429000" cy="2476500"/>
            <a:chOff x="666750" y="2667000"/>
            <a:chExt cx="3429000" cy="2476500"/>
          </a:xfrm>
        </p:grpSpPr>
        <p:sp>
          <p:nvSpPr>
            <p:cNvPr id="259" name="Google Shape;259;p26"/>
            <p:cNvSpPr/>
            <p:nvPr/>
          </p:nvSpPr>
          <p:spPr>
            <a:xfrm>
              <a:off x="6667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6"/>
            <p:cNvSpPr txBox="1"/>
            <p:nvPr/>
          </p:nvSpPr>
          <p:spPr>
            <a:xfrm>
              <a:off x="8572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45.9%</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Bỏ cuộc tại /billing</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Khách hàng thường xuyên "bỏ cuộc" tại bước điền thông tin Thẻ tín dụng do không tương thích mobile.</a:t>
              </a:r>
              <a:endParaRPr b="0" sz="1600">
                <a:solidFill>
                  <a:srgbClr val="374151"/>
                </a:solidFill>
                <a:latin typeface="Be Vietnam Pro"/>
                <a:ea typeface="Be Vietnam Pro"/>
                <a:cs typeface="Be Vietnam Pro"/>
                <a:sym typeface="Be Vietnam Pro"/>
              </a:endParaRPr>
            </a:p>
          </p:txBody>
        </p:sp>
      </p:grpSp>
      <p:grpSp>
        <p:nvGrpSpPr>
          <p:cNvPr id="261" name="Google Shape;261;p26"/>
          <p:cNvGrpSpPr/>
          <p:nvPr/>
        </p:nvGrpSpPr>
        <p:grpSpPr>
          <a:xfrm>
            <a:off x="4381500" y="2667000"/>
            <a:ext cx="3429000" cy="2476500"/>
            <a:chOff x="4381500" y="2667000"/>
            <a:chExt cx="3429000" cy="2476500"/>
          </a:xfrm>
        </p:grpSpPr>
        <p:sp>
          <p:nvSpPr>
            <p:cNvPr id="262" name="Google Shape;262;p26"/>
            <p:cNvSpPr/>
            <p:nvPr/>
          </p:nvSpPr>
          <p:spPr>
            <a:xfrm>
              <a:off x="438150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6"/>
            <p:cNvSpPr txBox="1"/>
            <p:nvPr/>
          </p:nvSpPr>
          <p:spPr>
            <a:xfrm>
              <a:off x="457200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~2.7x</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Khoảng cách CR</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Tỷ lệ chuyển đổi Desktop (8.5%) cao vượt trội so với Mobile (3.1%) do lỗi hiển thị nút "Thanh toán".</a:t>
              </a:r>
              <a:endParaRPr b="0" sz="1600">
                <a:solidFill>
                  <a:srgbClr val="374151"/>
                </a:solidFill>
                <a:latin typeface="Be Vietnam Pro"/>
                <a:ea typeface="Be Vietnam Pro"/>
                <a:cs typeface="Be Vietnam Pro"/>
                <a:sym typeface="Be Vietnam Pro"/>
              </a:endParaRPr>
            </a:p>
          </p:txBody>
        </p:sp>
      </p:grpSp>
      <p:grpSp>
        <p:nvGrpSpPr>
          <p:cNvPr id="264" name="Google Shape;264;p26"/>
          <p:cNvGrpSpPr/>
          <p:nvPr/>
        </p:nvGrpSpPr>
        <p:grpSpPr>
          <a:xfrm>
            <a:off x="8096250" y="2667000"/>
            <a:ext cx="3429000" cy="2476500"/>
            <a:chOff x="8096250" y="2667000"/>
            <a:chExt cx="3429000" cy="2476500"/>
          </a:xfrm>
        </p:grpSpPr>
        <p:sp>
          <p:nvSpPr>
            <p:cNvPr id="265" name="Google Shape;265;p26"/>
            <p:cNvSpPr/>
            <p:nvPr/>
          </p:nvSpPr>
          <p:spPr>
            <a:xfrm>
              <a:off x="8096250" y="2667000"/>
              <a:ext cx="3429000" cy="2476500"/>
            </a:xfrm>
            <a:prstGeom prst="roundRect">
              <a:avLst>
                <a:gd fmla="val 4615" name="adj"/>
              </a:avLst>
            </a:prstGeom>
            <a:solidFill>
              <a:srgbClr val="F9FAFB"/>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26"/>
            <p:cNvSpPr txBox="1"/>
            <p:nvPr/>
          </p:nvSpPr>
          <p:spPr>
            <a:xfrm>
              <a:off x="8286750" y="2857500"/>
              <a:ext cx="30480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C92A2A"/>
                  </a:solidFill>
                  <a:latin typeface="Be Vietnam Pro"/>
                  <a:ea typeface="Be Vietnam Pro"/>
                  <a:cs typeface="Be Vietnam Pro"/>
                  <a:sym typeface="Be Vietnam Pro"/>
                </a:rPr>
                <a:t>36.4%</a:t>
              </a:r>
              <a:endParaRPr b="1" sz="3200">
                <a:solidFill>
                  <a:srgbClr val="C92A2A"/>
                </a:solidFill>
                <a:latin typeface="Be Vietnam Pro"/>
                <a:ea typeface="Be Vietnam Pro"/>
                <a:cs typeface="Be Vietnam Pro"/>
                <a:sym typeface="Be Vietnam Pro"/>
              </a:endParaRPr>
            </a:p>
            <a:p>
              <a:pPr indent="0" lvl="0" marL="0" rtl="0" algn="l">
                <a:spcBef>
                  <a:spcPts val="1000"/>
                </a:spcBef>
                <a:spcAft>
                  <a:spcPts val="0"/>
                </a:spcAft>
                <a:buNone/>
              </a:pPr>
              <a:r>
                <a:rPr b="1" lang="en-US" sz="1800">
                  <a:solidFill>
                    <a:srgbClr val="0B2239"/>
                  </a:solidFill>
                  <a:latin typeface="Be Vietnam Pro"/>
                  <a:ea typeface="Be Vietnam Pro"/>
                  <a:cs typeface="Be Vietnam Pro"/>
                  <a:sym typeface="Be Vietnam Pro"/>
                </a:rPr>
                <a:t>Rơi rớt tại Cart</a:t>
              </a:r>
              <a:endParaRPr b="1" sz="1800">
                <a:solidFill>
                  <a:srgbClr val="0B2239"/>
                </a:solidFill>
                <a:latin typeface="Be Vietnam Pro"/>
                <a:ea typeface="Be Vietnam Pro"/>
                <a:cs typeface="Be Vietnam Pro"/>
                <a:sym typeface="Be Vietnam Pro"/>
              </a:endParaRPr>
            </a:p>
            <a:p>
              <a:pPr indent="0" lvl="0" marL="0" rtl="0" algn="l">
                <a:spcBef>
                  <a:spcPts val="800"/>
                </a:spcBef>
                <a:spcAft>
                  <a:spcPts val="0"/>
                </a:spcAft>
                <a:buNone/>
              </a:pPr>
              <a:r>
                <a:rPr b="0" lang="en-US" sz="1600">
                  <a:solidFill>
                    <a:srgbClr val="374151"/>
                  </a:solidFill>
                  <a:latin typeface="Be Vietnam Pro"/>
                  <a:ea typeface="Be Vietnam Pro"/>
                  <a:cs typeface="Be Vietnam Pro"/>
                  <a:sym typeface="Be Vietnam Pro"/>
                </a:rPr>
                <a:t>Nút "Thanh toán ngay" bị che khuất dưới nếp gấp (Below the fold) trên thiết bị di động.</a:t>
              </a:r>
              <a:endParaRPr b="0" sz="1600">
                <a:solidFill>
                  <a:srgbClr val="374151"/>
                </a:solidFill>
                <a:latin typeface="Be Vietnam Pro"/>
                <a:ea typeface="Be Vietnam Pro"/>
                <a:cs typeface="Be Vietnam Pro"/>
                <a:sym typeface="Be Vietnam Pr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pic>
        <p:nvPicPr>
          <p:cNvPr descr="image.png" id="271" name="Google Shape;271;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2" name="Google Shape;272;p27"/>
          <p:cNvPicPr preferRelativeResize="0"/>
          <p:nvPr/>
        </p:nvPicPr>
        <p:blipFill rotWithShape="1">
          <a:blip r:embed="rId4">
            <a:alphaModFix/>
          </a:blip>
          <a:srcRect b="0" l="0" r="0" t="0"/>
          <a:stretch/>
        </p:blipFill>
        <p:spPr>
          <a:xfrm>
            <a:off x="0" y="57150"/>
            <a:ext cx="12192000" cy="6800850"/>
          </a:xfrm>
          <a:prstGeom prst="rect">
            <a:avLst/>
          </a:prstGeom>
          <a:noFill/>
          <a:ln>
            <a:noFill/>
          </a:ln>
        </p:spPr>
      </p:pic>
      <p:sp>
        <p:nvSpPr>
          <p:cNvPr id="273" name="Google Shape;273;p27"/>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7"/>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7"/>
          <p:cNvSpPr txBox="1"/>
          <p:nvPr/>
        </p:nvSpPr>
        <p:spPr>
          <a:xfrm>
            <a:off x="295275" y="2587079"/>
            <a:ext cx="11601600" cy="129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Phần </a:t>
            </a:r>
            <a:r>
              <a:rPr b="1" lang="en-US" sz="4200">
                <a:solidFill>
                  <a:srgbClr val="FFFFFF"/>
                </a:solidFill>
                <a:latin typeface="Be Vietnam Pro"/>
                <a:ea typeface="Be Vietnam Pro"/>
                <a:cs typeface="Be Vietnam Pro"/>
                <a:sym typeface="Be Vietnam Pro"/>
              </a:rPr>
              <a:t>3</a:t>
            </a:r>
            <a:r>
              <a:rPr b="1" i="0" lang="en-US" sz="4200" u="none" cap="none" strike="noStrike">
                <a:solidFill>
                  <a:srgbClr val="FFFFFF"/>
                </a:solidFill>
                <a:latin typeface="Be Vietnam Pro"/>
                <a:ea typeface="Be Vietnam Pro"/>
                <a:cs typeface="Be Vietnam Pro"/>
                <a:sym typeface="Be Vietnam Pro"/>
              </a:rPr>
              <a:t>: Nút Thắt Tăng Trưởng </a:t>
            </a:r>
            <a:endParaRPr b="1" i="0" sz="4200" u="none" cap="none" strike="noStrike">
              <a:solidFill>
                <a:srgbClr val="FFFFFF"/>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4200" u="none" cap="none" strike="noStrike">
                <a:solidFill>
                  <a:srgbClr val="FFFFFF"/>
                </a:solidFill>
                <a:latin typeface="Be Vietnam Pro"/>
                <a:ea typeface="Be Vietnam Pro"/>
                <a:cs typeface="Be Vietnam Pro"/>
                <a:sym typeface="Be Vietnam Pro"/>
              </a:rPr>
              <a:t>(Growth Bottlenecks)</a:t>
            </a:r>
            <a:endParaRPr>
              <a:latin typeface="Be Vietnam Pro"/>
              <a:ea typeface="Be Vietnam Pro"/>
              <a:cs typeface="Be Vietnam Pro"/>
              <a:sym typeface="Be Vietnam Pro"/>
            </a:endParaRPr>
          </a:p>
        </p:txBody>
      </p:sp>
      <p:sp>
        <p:nvSpPr>
          <p:cNvPr id="276" name="Google Shape;276;p27"/>
          <p:cNvSpPr txBox="1"/>
          <p:nvPr/>
        </p:nvSpPr>
        <p:spPr>
          <a:xfrm>
            <a:off x="2286000" y="4206329"/>
            <a:ext cx="7620000" cy="7203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9CA3AF"/>
                </a:solidFill>
                <a:latin typeface="Be Vietnam Pro"/>
                <a:ea typeface="Be Vietnam Pro"/>
                <a:cs typeface="Be Vietnam Pro"/>
                <a:sym typeface="Be Vietnam Pro"/>
              </a:rPr>
              <a:t>Kiểm tra tỷ lệ Bán chéo (Cross-sell) và </a:t>
            </a:r>
            <a:r>
              <a:rPr lang="en-US" sz="1800">
                <a:solidFill>
                  <a:srgbClr val="9CA3AF"/>
                </a:solidFill>
                <a:latin typeface="Be Vietnam Pro"/>
                <a:ea typeface="Be Vietnam Pro"/>
                <a:cs typeface="Be Vietnam Pro"/>
                <a:sym typeface="Be Vietnam Pro"/>
              </a:rPr>
              <a:t>Giải pháp tăng AOV</a:t>
            </a:r>
            <a:r>
              <a:rPr i="0" lang="en-US" sz="1800" u="none" cap="none" strike="noStrike">
                <a:solidFill>
                  <a:srgbClr val="9CA3AF"/>
                </a:solidFill>
                <a:latin typeface="Be Vietnam Pro"/>
                <a:ea typeface="Be Vietnam Pro"/>
                <a:cs typeface="Be Vietnam Pro"/>
                <a:sym typeface="Be Vietnam Pro"/>
              </a:rPr>
              <a:t> để tối ưu Giá trị Vòng đời Khách hàng (LTV).</a:t>
            </a:r>
            <a:endParaRPr>
              <a:latin typeface="Be Vietnam Pro"/>
              <a:ea typeface="Be Vietnam Pro"/>
              <a:cs typeface="Be Vietnam Pro"/>
              <a:sym typeface="Be Vietnam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pic>
        <p:nvPicPr>
          <p:cNvPr descr="image.png" id="281" name="Google Shape;281;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82" name="Google Shape;282;p28" title="Biểu đồ"/>
          <p:cNvPicPr preferRelativeResize="0"/>
          <p:nvPr/>
        </p:nvPicPr>
        <p:blipFill>
          <a:blip r:embed="rId4">
            <a:alphaModFix/>
          </a:blip>
          <a:stretch>
            <a:fillRect/>
          </a:stretch>
        </p:blipFill>
        <p:spPr>
          <a:xfrm>
            <a:off x="666750" y="1080775"/>
            <a:ext cx="4732988" cy="4237126"/>
          </a:xfrm>
          <a:prstGeom prst="rect">
            <a:avLst/>
          </a:prstGeom>
          <a:noFill/>
          <a:ln>
            <a:noFill/>
          </a:ln>
        </p:spPr>
      </p:pic>
      <p:sp>
        <p:nvSpPr>
          <p:cNvPr id="283" name="Google Shape;283;p28"/>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8"/>
          <p:cNvSpPr txBox="1"/>
          <p:nvPr/>
        </p:nvSpPr>
        <p:spPr>
          <a:xfrm>
            <a:off x="666750" y="533400"/>
            <a:ext cx="11401500" cy="438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Giá Trị Đơn Hàng (AOV) Đang Bị Bỏ Ngỏ</a:t>
            </a:r>
            <a:endParaRPr b="1" sz="2850">
              <a:solidFill>
                <a:srgbClr val="0B2239"/>
              </a:solidFill>
              <a:latin typeface="Be Vietnam Pro"/>
              <a:ea typeface="Be Vietnam Pro"/>
              <a:cs typeface="Be Vietnam Pro"/>
              <a:sym typeface="Be Vietnam Pro"/>
            </a:endParaRPr>
          </a:p>
        </p:txBody>
      </p:sp>
      <p:sp>
        <p:nvSpPr>
          <p:cNvPr id="285" name="Google Shape;285;p28"/>
          <p:cNvSpPr/>
          <p:nvPr/>
        </p:nvSpPr>
        <p:spPr>
          <a:xfrm>
            <a:off x="666750" y="1133475"/>
            <a:ext cx="10858500" cy="9600"/>
          </a:xfrm>
          <a:prstGeom prst="rect">
            <a:avLst/>
          </a:prstGeom>
          <a:solidFill>
            <a:srgbClr val="E5E7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86" name="Google Shape;286;p28"/>
          <p:cNvGraphicFramePr/>
          <p:nvPr/>
        </p:nvGraphicFramePr>
        <p:xfrm>
          <a:off x="603963" y="5427800"/>
          <a:ext cx="3000000" cy="3000000"/>
        </p:xfrm>
        <a:graphic>
          <a:graphicData uri="http://schemas.openxmlformats.org/drawingml/2006/table">
            <a:tbl>
              <a:tblPr>
                <a:noFill/>
                <a:tableStyleId>{FCF6D2D1-A592-4978-8324-EACD4D85C9CA}</a:tableStyleId>
              </a:tblPr>
              <a:tblGrid>
                <a:gridCol w="1152150"/>
                <a:gridCol w="1152150"/>
                <a:gridCol w="1152150"/>
                <a:gridCol w="1152150"/>
              </a:tblGrid>
              <a:tr h="359575">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Phân loại</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SLĐH</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Revenue</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a:solidFill>
                            <a:srgbClr val="999999"/>
                          </a:solidFill>
                          <a:latin typeface="Be Vietnam Pro"/>
                          <a:ea typeface="Be Vietnam Pro"/>
                          <a:cs typeface="Be Vietnam Pro"/>
                          <a:sym typeface="Be Vietnam Pro"/>
                        </a:rPr>
                        <a:t>AOV</a:t>
                      </a:r>
                      <a:endParaRPr b="1">
                        <a:solidFill>
                          <a:srgbClr val="99999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102239"/>
                          </a:solidFill>
                          <a:latin typeface="Be Vietnam Pro"/>
                          <a:ea typeface="Be Vietnam Pro"/>
                          <a:cs typeface="Be Vietnam Pro"/>
                          <a:sym typeface="Be Vietnam Pro"/>
                        </a:rPr>
                        <a:t>Single</a:t>
                      </a:r>
                      <a:endParaRPr b="1">
                        <a:solidFill>
                          <a:srgbClr val="102239"/>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24.6K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1.3M</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50.8</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59575">
                <a:tc>
                  <a:txBody>
                    <a:bodyPr/>
                    <a:lstStyle/>
                    <a:p>
                      <a:pPr indent="0" lvl="0" marL="0" rtl="0" algn="l">
                        <a:lnSpc>
                          <a:spcPct val="115000"/>
                        </a:lnSpc>
                        <a:spcBef>
                          <a:spcPts val="0"/>
                        </a:spcBef>
                        <a:spcAft>
                          <a:spcPts val="0"/>
                        </a:spcAft>
                        <a:buNone/>
                      </a:pPr>
                      <a:r>
                        <a:rPr b="1" lang="en-US">
                          <a:solidFill>
                            <a:srgbClr val="C92A2A"/>
                          </a:solidFill>
                          <a:latin typeface="Be Vietnam Pro"/>
                          <a:ea typeface="Be Vietnam Pro"/>
                          <a:cs typeface="Be Vietnam Pro"/>
                          <a:sym typeface="Be Vietnam Pro"/>
                        </a:rPr>
                        <a:t>Cross-sell</a:t>
                      </a:r>
                      <a:endParaRPr b="1">
                        <a:solidFill>
                          <a:srgbClr val="C92A2A"/>
                        </a:solidFill>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7.7K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688.3K</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a:latin typeface="Be Vietnam Pro"/>
                          <a:ea typeface="Be Vietnam Pro"/>
                          <a:cs typeface="Be Vietnam Pro"/>
                          <a:sym typeface="Be Vietnam Pro"/>
                        </a:rPr>
                        <a:t>89.3</a:t>
                      </a:r>
                      <a:endParaRPr>
                        <a:latin typeface="Be Vietnam Pro"/>
                        <a:ea typeface="Be Vietnam Pro"/>
                        <a:cs typeface="Be Vietnam Pro"/>
                        <a:sym typeface="Be Vietnam Pr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87" name="Google Shape;287;p28"/>
          <p:cNvSpPr/>
          <p:nvPr/>
        </p:nvSpPr>
        <p:spPr>
          <a:xfrm>
            <a:off x="5861525" y="1632850"/>
            <a:ext cx="5987100" cy="4626600"/>
          </a:xfrm>
          <a:prstGeom prst="roundRect">
            <a:avLst>
              <a:gd fmla="val 3168"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8"/>
          <p:cNvSpPr txBox="1"/>
          <p:nvPr/>
        </p:nvSpPr>
        <p:spPr>
          <a:xfrm>
            <a:off x="5972925" y="1967800"/>
            <a:ext cx="5776800" cy="4082100"/>
          </a:xfrm>
          <a:prstGeom prst="rect">
            <a:avLst/>
          </a:prstGeom>
          <a:noFill/>
          <a:ln>
            <a:noFill/>
          </a:ln>
        </p:spPr>
        <p:txBody>
          <a:bodyPr anchorCtr="0" anchor="ctr" bIns="0" lIns="0" spcFirstLastPara="1" rIns="0" wrap="square" tIns="0">
            <a:noAutofit/>
          </a:bodyPr>
          <a:lstStyle/>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Đòn bẩy AOV vượt trội:</a:t>
            </a:r>
            <a:r>
              <a:rPr lang="en-US">
                <a:solidFill>
                  <a:srgbClr val="1F1F1F"/>
                </a:solidFill>
                <a:latin typeface="Be Vietnam Pro"/>
                <a:ea typeface="Be Vietnam Pro"/>
                <a:cs typeface="Be Vietnam Pro"/>
                <a:sym typeface="Be Vietnam Pro"/>
              </a:rPr>
              <a:t> Đơn hàng Bán chéo (Cross-sell) đạt AOV </a:t>
            </a:r>
            <a:r>
              <a:rPr b="1" lang="en-US">
                <a:solidFill>
                  <a:srgbClr val="1F1F1F"/>
                </a:solidFill>
                <a:latin typeface="Be Vietnam Pro"/>
                <a:ea typeface="Be Vietnam Pro"/>
                <a:cs typeface="Be Vietnam Pro"/>
                <a:sym typeface="Be Vietnam Pro"/>
              </a:rPr>
              <a:t>$89.3</a:t>
            </a:r>
            <a:r>
              <a:rPr lang="en-US">
                <a:solidFill>
                  <a:srgbClr val="1F1F1F"/>
                </a:solidFill>
                <a:latin typeface="Be Vietnam Pro"/>
                <a:ea typeface="Be Vietnam Pro"/>
                <a:cs typeface="Be Vietnam Pro"/>
                <a:sym typeface="Be Vietnam Pro"/>
              </a:rPr>
              <a:t>, cao hơn </a:t>
            </a:r>
            <a:r>
              <a:rPr b="1" lang="en-US">
                <a:solidFill>
                  <a:srgbClr val="1F1F1F"/>
                </a:solidFill>
                <a:latin typeface="Be Vietnam Pro"/>
                <a:ea typeface="Be Vietnam Pro"/>
                <a:cs typeface="Be Vietnam Pro"/>
                <a:sym typeface="Be Vietnam Pro"/>
              </a:rPr>
              <a:t>76%</a:t>
            </a:r>
            <a:r>
              <a:rPr lang="en-US">
                <a:solidFill>
                  <a:srgbClr val="1F1F1F"/>
                </a:solidFill>
                <a:latin typeface="Be Vietnam Pro"/>
                <a:ea typeface="Be Vietnam Pro"/>
                <a:cs typeface="Be Vietnam Pro"/>
                <a:sym typeface="Be Vietnam Pro"/>
              </a:rPr>
              <a:t> so với AOV của đơn hàng đơn lẻ (Single $50.8).</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Tỷ trọng doanh thu lớn:</a:t>
            </a:r>
            <a:r>
              <a:rPr lang="en-US">
                <a:solidFill>
                  <a:srgbClr val="1F1F1F"/>
                </a:solidFill>
                <a:latin typeface="Be Vietnam Pro"/>
                <a:ea typeface="Be Vietnam Pro"/>
                <a:cs typeface="Be Vietnam Pro"/>
                <a:sym typeface="Be Vietnam Pro"/>
              </a:rPr>
              <a:t> Mặc dù chỉ chiếm 23.9% tổng số đơn hàng (7.7K), nhóm Cross-sell lại đóng góp tới </a:t>
            </a:r>
            <a:r>
              <a:rPr b="1" lang="en-US">
                <a:solidFill>
                  <a:srgbClr val="1F1F1F"/>
                </a:solidFill>
                <a:latin typeface="Be Vietnam Pro"/>
                <a:ea typeface="Be Vietnam Pro"/>
                <a:cs typeface="Be Vietnam Pro"/>
                <a:sym typeface="Be Vietnam Pro"/>
              </a:rPr>
              <a:t>34.6%</a:t>
            </a:r>
            <a:r>
              <a:rPr lang="en-US">
                <a:solidFill>
                  <a:srgbClr val="1F1F1F"/>
                </a:solidFill>
                <a:latin typeface="Be Vietnam Pro"/>
                <a:ea typeface="Be Vietnam Pro"/>
                <a:cs typeface="Be Vietnam Pro"/>
                <a:sym typeface="Be Vietnam Pro"/>
              </a:rPr>
              <a:t> tổng Doanh thu.</a:t>
            </a:r>
            <a:endParaRPr>
              <a:solidFill>
                <a:srgbClr val="1F1F1F"/>
              </a:solidFill>
              <a:latin typeface="Be Vietnam Pro"/>
              <a:ea typeface="Be Vietnam Pro"/>
              <a:cs typeface="Be Vietnam Pro"/>
              <a:sym typeface="Be Vietnam Pro"/>
            </a:endParaRPr>
          </a:p>
          <a:p>
            <a:pPr indent="0" lvl="0" marL="0" rtl="0" algn="l">
              <a:lnSpc>
                <a:spcPct val="115000"/>
              </a:lnSpc>
              <a:spcBef>
                <a:spcPts val="300"/>
              </a:spcBef>
              <a:spcAft>
                <a:spcPts val="0"/>
              </a:spcAft>
              <a:buNone/>
            </a:pPr>
            <a:r>
              <a:t/>
            </a:r>
            <a:endParaRPr>
              <a:solidFill>
                <a:srgbClr val="1F1F1F"/>
              </a:solidFill>
              <a:latin typeface="Be Vietnam Pro"/>
              <a:ea typeface="Be Vietnam Pro"/>
              <a:cs typeface="Be Vietnam Pro"/>
              <a:sym typeface="Be Vietnam Pro"/>
            </a:endParaRPr>
          </a:p>
          <a:p>
            <a:pPr indent="-317500" lvl="0" marL="457200" rtl="0" algn="l">
              <a:lnSpc>
                <a:spcPct val="115000"/>
              </a:lnSpc>
              <a:spcBef>
                <a:spcPts val="300"/>
              </a:spcBef>
              <a:spcAft>
                <a:spcPts val="0"/>
              </a:spcAft>
              <a:buClr>
                <a:srgbClr val="1F1F1F"/>
              </a:buClr>
              <a:buSzPts val="1400"/>
              <a:buFont typeface="Roboto"/>
              <a:buChar char="●"/>
            </a:pPr>
            <a:r>
              <a:rPr b="1" lang="en-US">
                <a:solidFill>
                  <a:srgbClr val="1F1F1F"/>
                </a:solidFill>
                <a:latin typeface="Be Vietnam Pro"/>
                <a:ea typeface="Be Vietnam Pro"/>
                <a:cs typeface="Be Vietnam Pro"/>
                <a:sym typeface="Be Vietnam Pro"/>
              </a:rPr>
              <a:t>Kết luận:</a:t>
            </a:r>
            <a:r>
              <a:rPr lang="en-US">
                <a:solidFill>
                  <a:srgbClr val="1F1F1F"/>
                </a:solidFill>
                <a:latin typeface="Be Vietnam Pro"/>
                <a:ea typeface="Be Vietnam Pro"/>
                <a:cs typeface="Be Vietnam Pro"/>
                <a:sym typeface="Be Vietnam Pro"/>
              </a:rPr>
              <a:t> Chiến lược Bán chéo hiện tại đang là đòn bẩy hiệu quả nhất để tăng AOV và doanh thu. Cần ưu tiên triển khai giải pháp Bundling (theo đề xuất ở Slide 16) để tận dụng triệt để tệp khách hàng có ý định mua sắm cao này, thay vì quá phụ thuộc vào đơn hàng đơn lẻ (chiếm 76.2% tổng số đơn).</a:t>
            </a:r>
            <a:endParaRPr b="1">
              <a:solidFill>
                <a:srgbClr val="374151"/>
              </a:solidFill>
              <a:latin typeface="Be Vietnam Pro"/>
              <a:ea typeface="Be Vietnam Pro"/>
              <a:cs typeface="Be Vietnam Pro"/>
              <a:sym typeface="Be Vietnam Pr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93" name="Google Shape;293;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4" name="Google Shape;294;p29"/>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9"/>
          <p:cNvSpPr txBox="1"/>
          <p:nvPr/>
        </p:nvSpPr>
        <p:spPr>
          <a:xfrm>
            <a:off x="666750" y="533400"/>
            <a:ext cx="1085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50">
                <a:solidFill>
                  <a:srgbClr val="0B2239"/>
                </a:solidFill>
                <a:latin typeface="Be Vietnam Pro"/>
                <a:ea typeface="Be Vietnam Pro"/>
                <a:cs typeface="Be Vietnam Pro"/>
                <a:sym typeface="Be Vietnam Pro"/>
              </a:rPr>
              <a:t>Gợi Ý Combo "Vàng" Dựa Trên Phân Tích Giỏ Hàng</a:t>
            </a:r>
            <a:endParaRPr b="1" sz="2850">
              <a:solidFill>
                <a:srgbClr val="0B2239"/>
              </a:solidFill>
              <a:latin typeface="Be Vietnam Pro"/>
              <a:ea typeface="Be Vietnam Pro"/>
              <a:cs typeface="Be Vietnam Pro"/>
              <a:sym typeface="Be Vietnam Pro"/>
            </a:endParaRPr>
          </a:p>
        </p:txBody>
      </p:sp>
      <p:sp>
        <p:nvSpPr>
          <p:cNvPr id="296" name="Google Shape;296;p29"/>
          <p:cNvSpPr/>
          <p:nvPr/>
        </p:nvSpPr>
        <p:spPr>
          <a:xfrm>
            <a:off x="666750" y="1133475"/>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7" name="Google Shape;297;p29"/>
          <p:cNvGrpSpPr/>
          <p:nvPr/>
        </p:nvGrpSpPr>
        <p:grpSpPr>
          <a:xfrm>
            <a:off x="666750" y="1524000"/>
            <a:ext cx="3429000" cy="2667000"/>
            <a:chOff x="0" y="0"/>
            <a:chExt cx="3429000" cy="2667000"/>
          </a:xfrm>
        </p:grpSpPr>
        <p:sp>
          <p:nvSpPr>
            <p:cNvPr id="298" name="Google Shape;29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C92A2A"/>
                  </a:solidFill>
                  <a:latin typeface="Be Vietnam Pro"/>
                  <a:ea typeface="Be Vietnam Pro"/>
                  <a:cs typeface="Be Vietnam Pro"/>
                  <a:sym typeface="Be Vietnam Pro"/>
                </a:rPr>
                <a:t>LIFT CAO NHẤT</a:t>
              </a:r>
              <a:endParaRPr b="1" sz="900">
                <a:solidFill>
                  <a:srgbClr val="C92A2A"/>
                </a:solidFill>
                <a:latin typeface="Be Vietnam Pro"/>
                <a:ea typeface="Be Vietnam Pro"/>
                <a:cs typeface="Be Vietnam Pro"/>
                <a:sym typeface="Be Vietnam Pro"/>
              </a:endParaRPr>
            </a:p>
          </p:txBody>
        </p:sp>
        <p:sp>
          <p:nvSpPr>
            <p:cNvPr id="301" name="Google Shape;30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Birthday Sugar Panda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02" name="Google Shape;30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Cặp bài trùng lý tưởng để chạy quảng cáo Bundle. Mối quan hệ tương hỗ cực mạnh: "Mua A thường sẽ mua B".</a:t>
              </a:r>
              <a:endParaRPr b="0" sz="1200">
                <a:solidFill>
                  <a:srgbClr val="4B5563"/>
                </a:solidFill>
                <a:latin typeface="Be Vietnam Pro"/>
                <a:ea typeface="Be Vietnam Pro"/>
                <a:cs typeface="Be Vietnam Pro"/>
                <a:sym typeface="Be Vietnam Pro"/>
              </a:endParaRPr>
            </a:p>
          </p:txBody>
        </p:sp>
        <p:grpSp>
          <p:nvGrpSpPr>
            <p:cNvPr id="303" name="Google Shape;303;p29"/>
            <p:cNvGrpSpPr/>
            <p:nvPr/>
          </p:nvGrpSpPr>
          <p:grpSpPr>
            <a:xfrm>
              <a:off x="190500" y="2095500"/>
              <a:ext cx="3048000" cy="381000"/>
              <a:chOff x="0" y="0"/>
              <a:chExt cx="3048000" cy="381000"/>
            </a:xfrm>
          </p:grpSpPr>
          <p:sp>
            <p:nvSpPr>
              <p:cNvPr id="304" name="Google Shape;30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0.85</a:t>
                </a:r>
                <a:endParaRPr b="1" sz="1480">
                  <a:solidFill>
                    <a:srgbClr val="C92A2A"/>
                  </a:solidFill>
                  <a:latin typeface="Be Vietnam Pro"/>
                  <a:ea typeface="Be Vietnam Pro"/>
                  <a:cs typeface="Be Vietnam Pro"/>
                  <a:sym typeface="Be Vietnam Pro"/>
                </a:endParaRPr>
              </a:p>
            </p:txBody>
          </p:sp>
          <p:sp>
            <p:nvSpPr>
              <p:cNvPr id="305" name="Google Shape;30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13.2%</a:t>
                </a:r>
                <a:endParaRPr b="1" sz="1480">
                  <a:solidFill>
                    <a:srgbClr val="C92A2A"/>
                  </a:solidFill>
                  <a:latin typeface="Be Vietnam Pro"/>
                  <a:ea typeface="Be Vietnam Pro"/>
                  <a:cs typeface="Be Vietnam Pro"/>
                  <a:sym typeface="Be Vietnam Pro"/>
                </a:endParaRPr>
              </a:p>
            </p:txBody>
          </p:sp>
          <p:sp>
            <p:nvSpPr>
              <p:cNvPr id="306" name="Google Shape;30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662</a:t>
                </a:r>
                <a:endParaRPr b="1" sz="1480">
                  <a:solidFill>
                    <a:srgbClr val="C92A2A"/>
                  </a:solidFill>
                  <a:latin typeface="Be Vietnam Pro"/>
                  <a:ea typeface="Be Vietnam Pro"/>
                  <a:cs typeface="Be Vietnam Pro"/>
                  <a:sym typeface="Be Vietnam Pro"/>
                </a:endParaRPr>
              </a:p>
            </p:txBody>
          </p:sp>
        </p:grpSp>
      </p:grpSp>
      <p:grpSp>
        <p:nvGrpSpPr>
          <p:cNvPr id="307" name="Google Shape;307;p29"/>
          <p:cNvGrpSpPr/>
          <p:nvPr/>
        </p:nvGrpSpPr>
        <p:grpSpPr>
          <a:xfrm>
            <a:off x="4381500" y="1524000"/>
            <a:ext cx="3429000" cy="2667000"/>
            <a:chOff x="0" y="0"/>
            <a:chExt cx="3429000" cy="2667000"/>
          </a:xfrm>
        </p:grpSpPr>
        <p:sp>
          <p:nvSpPr>
            <p:cNvPr id="308" name="Google Shape;30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9"/>
            <p:cNvSpPr/>
            <p:nvPr/>
          </p:nvSpPr>
          <p:spPr>
            <a:xfrm>
              <a:off x="190500" y="190500"/>
              <a:ext cx="11430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9"/>
            <p:cNvSpPr txBox="1"/>
            <p:nvPr/>
          </p:nvSpPr>
          <p:spPr>
            <a:xfrm>
              <a:off x="190500" y="190500"/>
              <a:ext cx="11430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369A1"/>
                  </a:solidFill>
                  <a:latin typeface="Be Vietnam Pro"/>
                  <a:ea typeface="Be Vietnam Pro"/>
                  <a:cs typeface="Be Vietnam Pro"/>
                  <a:sym typeface="Be Vietnam Pro"/>
                </a:rPr>
                <a:t>CONFIDENCE CAO</a:t>
              </a:r>
              <a:endParaRPr b="1" sz="900">
                <a:solidFill>
                  <a:srgbClr val="0369A1"/>
                </a:solidFill>
                <a:latin typeface="Be Vietnam Pro"/>
                <a:ea typeface="Be Vietnam Pro"/>
                <a:cs typeface="Be Vietnam Pro"/>
                <a:sym typeface="Be Vietnam Pro"/>
              </a:endParaRPr>
            </a:p>
          </p:txBody>
        </p:sp>
        <p:sp>
          <p:nvSpPr>
            <p:cNvPr id="311" name="Google Shape;31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Original Mr. Fuzzy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12" name="Google Shape;31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Lựa chọn an toàn nhất để gợi ý tại bước thanh toán. Tỷ lệ mua kèm cao ổn định nhờ độ phổ biến của sản phẩm B.</a:t>
              </a:r>
              <a:endParaRPr b="0" sz="1200">
                <a:solidFill>
                  <a:srgbClr val="4B5563"/>
                </a:solidFill>
                <a:latin typeface="Be Vietnam Pro"/>
                <a:ea typeface="Be Vietnam Pro"/>
                <a:cs typeface="Be Vietnam Pro"/>
                <a:sym typeface="Be Vietnam Pro"/>
              </a:endParaRPr>
            </a:p>
          </p:txBody>
        </p:sp>
        <p:grpSp>
          <p:nvGrpSpPr>
            <p:cNvPr id="313" name="Google Shape;313;p29"/>
            <p:cNvGrpSpPr/>
            <p:nvPr/>
          </p:nvGrpSpPr>
          <p:grpSpPr>
            <a:xfrm>
              <a:off x="190500" y="2095500"/>
              <a:ext cx="3048000" cy="381000"/>
              <a:chOff x="0" y="0"/>
              <a:chExt cx="3048000" cy="381000"/>
            </a:xfrm>
          </p:grpSpPr>
          <p:sp>
            <p:nvSpPr>
              <p:cNvPr id="314" name="Google Shape;31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0.83</a:t>
                </a:r>
                <a:endParaRPr b="1" sz="1480">
                  <a:solidFill>
                    <a:srgbClr val="C92A2A"/>
                  </a:solidFill>
                  <a:latin typeface="Be Vietnam Pro"/>
                  <a:ea typeface="Be Vietnam Pro"/>
                  <a:cs typeface="Be Vietnam Pro"/>
                  <a:sym typeface="Be Vietnam Pro"/>
                </a:endParaRPr>
              </a:p>
            </p:txBody>
          </p:sp>
          <p:sp>
            <p:nvSpPr>
              <p:cNvPr id="315" name="Google Shape;31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12.9%</a:t>
                </a:r>
                <a:endParaRPr b="1" sz="1480">
                  <a:solidFill>
                    <a:srgbClr val="C92A2A"/>
                  </a:solidFill>
                  <a:latin typeface="Be Vietnam Pro"/>
                  <a:ea typeface="Be Vietnam Pro"/>
                  <a:cs typeface="Be Vietnam Pro"/>
                  <a:sym typeface="Be Vietnam Pro"/>
                </a:endParaRPr>
              </a:p>
            </p:txBody>
          </p:sp>
          <p:sp>
            <p:nvSpPr>
              <p:cNvPr id="316" name="Google Shape;31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3,142</a:t>
                </a:r>
                <a:endParaRPr b="1" sz="1480">
                  <a:solidFill>
                    <a:srgbClr val="C92A2A"/>
                  </a:solidFill>
                  <a:latin typeface="Be Vietnam Pro"/>
                  <a:ea typeface="Be Vietnam Pro"/>
                  <a:cs typeface="Be Vietnam Pro"/>
                  <a:sym typeface="Be Vietnam Pro"/>
                </a:endParaRPr>
              </a:p>
            </p:txBody>
          </p:sp>
        </p:grpSp>
      </p:grpSp>
      <p:grpSp>
        <p:nvGrpSpPr>
          <p:cNvPr id="317" name="Google Shape;317;p29"/>
          <p:cNvGrpSpPr/>
          <p:nvPr/>
        </p:nvGrpSpPr>
        <p:grpSpPr>
          <a:xfrm>
            <a:off x="8096250" y="1524000"/>
            <a:ext cx="3429000" cy="2667000"/>
            <a:chOff x="0" y="0"/>
            <a:chExt cx="3429000" cy="2667000"/>
          </a:xfrm>
        </p:grpSpPr>
        <p:sp>
          <p:nvSpPr>
            <p:cNvPr id="318" name="Google Shape;318;p29"/>
            <p:cNvSpPr/>
            <p:nvPr/>
          </p:nvSpPr>
          <p:spPr>
            <a:xfrm>
              <a:off x="0" y="0"/>
              <a:ext cx="3429000" cy="2667000"/>
            </a:xfrm>
            <a:prstGeom prst="roundRect">
              <a:avLst>
                <a:gd fmla="val 4285"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9"/>
            <p:cNvSpPr/>
            <p:nvPr/>
          </p:nvSpPr>
          <p:spPr>
            <a:xfrm>
              <a:off x="190500" y="190500"/>
              <a:ext cx="952500" cy="228600"/>
            </a:xfrm>
            <a:prstGeom prst="roundRect">
              <a:avLst>
                <a:gd fmla="val 16666"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9"/>
            <p:cNvSpPr txBox="1"/>
            <p:nvPr/>
          </p:nvSpPr>
          <p:spPr>
            <a:xfrm>
              <a:off x="190500" y="190500"/>
              <a:ext cx="9525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059669"/>
                  </a:solidFill>
                  <a:latin typeface="Be Vietnam Pro"/>
                  <a:ea typeface="Be Vietnam Pro"/>
                  <a:cs typeface="Be Vietnam Pro"/>
                  <a:sym typeface="Be Vietnam Pro"/>
                </a:rPr>
                <a:t>TIỀM NĂNG</a:t>
              </a:r>
              <a:endParaRPr b="1" sz="900">
                <a:solidFill>
                  <a:srgbClr val="059669"/>
                </a:solidFill>
                <a:latin typeface="Be Vietnam Pro"/>
                <a:ea typeface="Be Vietnam Pro"/>
                <a:cs typeface="Be Vietnam Pro"/>
                <a:sym typeface="Be Vietnam Pro"/>
              </a:endParaRPr>
            </a:p>
          </p:txBody>
        </p:sp>
        <p:sp>
          <p:nvSpPr>
            <p:cNvPr id="321" name="Google Shape;321;p29"/>
            <p:cNvSpPr txBox="1"/>
            <p:nvPr/>
          </p:nvSpPr>
          <p:spPr>
            <a:xfrm>
              <a:off x="190500" y="571500"/>
              <a:ext cx="3048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239"/>
                  </a:solidFill>
                  <a:latin typeface="Be Vietnam Pro"/>
                  <a:ea typeface="Be Vietnam Pro"/>
                  <a:cs typeface="Be Vietnam Pro"/>
                  <a:sym typeface="Be Vietnam Pro"/>
                </a:rPr>
                <a:t>The Forever Love Bear + </a:t>
              </a:r>
              <a:r>
                <a:rPr b="1" lang="en-US" sz="1400">
                  <a:solidFill>
                    <a:srgbClr val="059669"/>
                  </a:solidFill>
                  <a:latin typeface="Be Vietnam Pro"/>
                  <a:ea typeface="Be Vietnam Pro"/>
                  <a:cs typeface="Be Vietnam Pro"/>
                  <a:sym typeface="Be Vietnam Pro"/>
                </a:rPr>
                <a:t>The Hudson River Mini bear</a:t>
              </a:r>
              <a:endParaRPr b="1" sz="1400">
                <a:solidFill>
                  <a:srgbClr val="059669"/>
                </a:solidFill>
                <a:latin typeface="Be Vietnam Pro"/>
                <a:ea typeface="Be Vietnam Pro"/>
                <a:cs typeface="Be Vietnam Pro"/>
                <a:sym typeface="Be Vietnam Pro"/>
              </a:endParaRPr>
            </a:p>
          </p:txBody>
        </p:sp>
        <p:sp>
          <p:nvSpPr>
            <p:cNvPr id="322" name="Google Shape;322;p29"/>
            <p:cNvSpPr txBox="1"/>
            <p:nvPr/>
          </p:nvSpPr>
          <p:spPr>
            <a:xfrm>
              <a:off x="190500" y="123825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200">
                  <a:solidFill>
                    <a:srgbClr val="4B5563"/>
                  </a:solidFill>
                  <a:latin typeface="Be Vietnam Pro"/>
                  <a:ea typeface="Be Vietnam Pro"/>
                  <a:cs typeface="Be Vietnam Pro"/>
                  <a:sym typeface="Be Vietnam Pro"/>
                </a:rPr>
                <a:t>Combo dành cho nhóm khách hàng quà tặng. Dù Lift thấp hơn nhưng tỷ lệ tin cậy (Confidence) vẫn đạt mức ưu tú.</a:t>
              </a:r>
              <a:endParaRPr b="0" sz="1200">
                <a:solidFill>
                  <a:srgbClr val="4B5563"/>
                </a:solidFill>
                <a:latin typeface="Be Vietnam Pro"/>
                <a:ea typeface="Be Vietnam Pro"/>
                <a:cs typeface="Be Vietnam Pro"/>
                <a:sym typeface="Be Vietnam Pro"/>
              </a:endParaRPr>
            </a:p>
          </p:txBody>
        </p:sp>
        <p:grpSp>
          <p:nvGrpSpPr>
            <p:cNvPr id="323" name="Google Shape;323;p29"/>
            <p:cNvGrpSpPr/>
            <p:nvPr/>
          </p:nvGrpSpPr>
          <p:grpSpPr>
            <a:xfrm>
              <a:off x="190500" y="2095500"/>
              <a:ext cx="3048000" cy="381000"/>
              <a:chOff x="0" y="0"/>
              <a:chExt cx="3048000" cy="381000"/>
            </a:xfrm>
          </p:grpSpPr>
          <p:sp>
            <p:nvSpPr>
              <p:cNvPr id="324" name="Google Shape;324;p29"/>
              <p:cNvSpPr txBox="1"/>
              <p:nvPr/>
            </p:nvSpPr>
            <p:spPr>
              <a:xfrm>
                <a:off x="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Lift</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0.75</a:t>
                </a:r>
                <a:endParaRPr b="1" sz="1480">
                  <a:solidFill>
                    <a:srgbClr val="C92A2A"/>
                  </a:solidFill>
                  <a:latin typeface="Be Vietnam Pro"/>
                  <a:ea typeface="Be Vietnam Pro"/>
                  <a:cs typeface="Be Vietnam Pro"/>
                  <a:sym typeface="Be Vietnam Pro"/>
                </a:endParaRPr>
              </a:p>
            </p:txBody>
          </p:sp>
          <p:sp>
            <p:nvSpPr>
              <p:cNvPr id="325" name="Google Shape;325;p29"/>
              <p:cNvSpPr txBox="1"/>
              <p:nvPr/>
            </p:nvSpPr>
            <p:spPr>
              <a:xfrm>
                <a:off x="104775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Confidence</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11.7%</a:t>
                </a:r>
                <a:endParaRPr b="1" sz="1480">
                  <a:solidFill>
                    <a:srgbClr val="C92A2A"/>
                  </a:solidFill>
                  <a:latin typeface="Be Vietnam Pro"/>
                  <a:ea typeface="Be Vietnam Pro"/>
                  <a:cs typeface="Be Vietnam Pro"/>
                  <a:sym typeface="Be Vietnam Pro"/>
                </a:endParaRPr>
              </a:p>
            </p:txBody>
          </p:sp>
          <p:sp>
            <p:nvSpPr>
              <p:cNvPr id="326" name="Google Shape;326;p29"/>
              <p:cNvSpPr txBox="1"/>
              <p:nvPr/>
            </p:nvSpPr>
            <p:spPr>
              <a:xfrm>
                <a:off x="2095500" y="0"/>
                <a:ext cx="952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25">
                    <a:solidFill>
                      <a:srgbClr val="9CA3AF"/>
                    </a:solidFill>
                    <a:latin typeface="Be Vietnam Pro"/>
                    <a:ea typeface="Be Vietnam Pro"/>
                    <a:cs typeface="Be Vietnam Pro"/>
                    <a:sym typeface="Be Vietnam Pro"/>
                  </a:rPr>
                  <a:t>Orders</a:t>
                </a:r>
                <a:endParaRPr b="1" sz="925">
                  <a:solidFill>
                    <a:srgbClr val="9CA3AF"/>
                  </a:solidFill>
                  <a:latin typeface="Be Vietnam Pro"/>
                  <a:ea typeface="Be Vietnam Pro"/>
                  <a:cs typeface="Be Vietnam Pro"/>
                  <a:sym typeface="Be Vietnam Pro"/>
                </a:endParaRPr>
              </a:p>
              <a:p>
                <a:pPr indent="0" lvl="0" marL="0" rtl="0" algn="l">
                  <a:spcBef>
                    <a:spcPts val="0"/>
                  </a:spcBef>
                  <a:spcAft>
                    <a:spcPts val="0"/>
                  </a:spcAft>
                  <a:buNone/>
                </a:pPr>
                <a:r>
                  <a:rPr b="1" lang="en-US" sz="1480">
                    <a:solidFill>
                      <a:srgbClr val="C92A2A"/>
                    </a:solidFill>
                    <a:latin typeface="Be Vietnam Pro"/>
                    <a:ea typeface="Be Vietnam Pro"/>
                    <a:cs typeface="Be Vietnam Pro"/>
                    <a:sym typeface="Be Vietnam Pro"/>
                  </a:rPr>
                  <a:t>680</a:t>
                </a:r>
                <a:endParaRPr b="1" sz="1480">
                  <a:solidFill>
                    <a:srgbClr val="C92A2A"/>
                  </a:solidFill>
                  <a:latin typeface="Be Vietnam Pro"/>
                  <a:ea typeface="Be Vietnam Pro"/>
                  <a:cs typeface="Be Vietnam Pro"/>
                  <a:sym typeface="Be Vietnam Pro"/>
                </a:endParaRPr>
              </a:p>
            </p:txBody>
          </p:sp>
        </p:grpSp>
      </p:grpSp>
      <p:sp>
        <p:nvSpPr>
          <p:cNvPr id="327" name="Google Shape;327;p29"/>
          <p:cNvSpPr/>
          <p:nvPr/>
        </p:nvSpPr>
        <p:spPr>
          <a:xfrm>
            <a:off x="666750" y="4511300"/>
            <a:ext cx="10858500" cy="1947000"/>
          </a:xfrm>
          <a:prstGeom prst="roundRect">
            <a:avLst>
              <a:gd fmla="val 10000" name="adj"/>
            </a:avLst>
          </a:prstGeom>
          <a:solidFill>
            <a:srgbClr val="FEE2E2">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9"/>
          <p:cNvSpPr txBox="1"/>
          <p:nvPr/>
        </p:nvSpPr>
        <p:spPr>
          <a:xfrm>
            <a:off x="952500" y="4705200"/>
            <a:ext cx="10287000" cy="150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a:solidFill>
                  <a:srgbClr val="1F2937"/>
                </a:solidFill>
                <a:latin typeface="Be Vietnam Pro"/>
                <a:ea typeface="Be Vietnam Pro"/>
                <a:cs typeface="Be Vietnam Pro"/>
                <a:sym typeface="Be Vietnam Pro"/>
              </a:rPr>
              <a:t>NHẬN XÉT CHIẾN LƯỢC:</a:t>
            </a:r>
            <a:endParaRPr b="1">
              <a:solidFill>
                <a:srgbClr val="1F2937"/>
              </a:solidFill>
              <a:latin typeface="Be Vietnam Pro"/>
              <a:ea typeface="Be Vietnam Pro"/>
              <a:cs typeface="Be Vietnam Pro"/>
              <a:sym typeface="Be Vietnam Pro"/>
            </a:endParaRPr>
          </a:p>
          <a:p>
            <a:pPr indent="-317500" lvl="0" marL="457200" rtl="0" algn="l">
              <a:spcBef>
                <a:spcPts val="6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Ưu tiên chạy Ads cho các combo có Lift cao để tối ưu ngân sách dựa trên hành vi mua sắm thực tế. </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Chuyển từ Cross-sell sang Up</a:t>
            </a:r>
            <a:r>
              <a:rPr lang="en-US">
                <a:solidFill>
                  <a:srgbClr val="1F2937"/>
                </a:solidFill>
                <a:latin typeface="Be Vietnam Pro"/>
                <a:ea typeface="Be Vietnam Pro"/>
                <a:cs typeface="Be Vietnam Pro"/>
                <a:sym typeface="Be Vietnam Pro"/>
              </a:rPr>
              <a:t>-</a:t>
            </a:r>
            <a:r>
              <a:rPr b="0" lang="en-US">
                <a:solidFill>
                  <a:srgbClr val="1F2937"/>
                </a:solidFill>
                <a:latin typeface="Be Vietnam Pro"/>
                <a:ea typeface="Be Vietnam Pro"/>
                <a:cs typeface="Be Vietnam Pro"/>
                <a:sym typeface="Be Vietnam Pro"/>
              </a:rPr>
              <a:t>sell (Gợi ý size lớn hơn) hoặc gợi ý phụ kiện nhỏ (</a:t>
            </a:r>
            <a:r>
              <a:rPr lang="en-US">
                <a:solidFill>
                  <a:srgbClr val="1F2937"/>
                </a:solidFill>
                <a:latin typeface="Be Vietnam Pro"/>
                <a:ea typeface="Be Vietnam Pro"/>
                <a:cs typeface="Be Vietnam Pro"/>
                <a:sym typeface="Be Vietnam Pro"/>
              </a:rPr>
              <a:t>The Hudson River Mini Bear</a:t>
            </a:r>
            <a:r>
              <a:rPr b="0" lang="en-US">
                <a:solidFill>
                  <a:srgbClr val="1F2937"/>
                </a:solidFill>
                <a:latin typeface="Be Vietnam Pro"/>
                <a:ea typeface="Be Vietnam Pro"/>
                <a:cs typeface="Be Vietnam Pro"/>
                <a:sym typeface="Be Vietnam Pro"/>
              </a:rPr>
              <a:t>) có margin cao để tối ưu giỏ hàng</a:t>
            </a:r>
            <a:endParaRPr b="0">
              <a:solidFill>
                <a:srgbClr val="1F2937"/>
              </a:solidFill>
              <a:latin typeface="Be Vietnam Pro"/>
              <a:ea typeface="Be Vietnam Pro"/>
              <a:cs typeface="Be Vietnam Pro"/>
              <a:sym typeface="Be Vietnam Pro"/>
            </a:endParaRPr>
          </a:p>
          <a:p>
            <a:pPr indent="-317500" lvl="0" marL="457200" rtl="0" algn="l">
              <a:spcBef>
                <a:spcPts val="300"/>
              </a:spcBef>
              <a:spcAft>
                <a:spcPts val="0"/>
              </a:spcAft>
              <a:buClr>
                <a:srgbClr val="1F2937"/>
              </a:buClr>
              <a:buSzPts val="1400"/>
              <a:buFont typeface="Be Vietnam Pro"/>
              <a:buChar char="●"/>
            </a:pPr>
            <a:r>
              <a:rPr b="0" lang="en-US">
                <a:solidFill>
                  <a:srgbClr val="1F2937"/>
                </a:solidFill>
                <a:latin typeface="Be Vietnam Pro"/>
                <a:ea typeface="Be Vietnam Pro"/>
                <a:cs typeface="Be Vietnam Pro"/>
                <a:sym typeface="Be Vietnam Pro"/>
              </a:rPr>
              <a:t>Sử dụng các combo Confidence cao làm "Sản phẩm gợi ý" mặc định tại Cart để tối đa hóa tỷ lệ chuyển đổi cuối cùng.</a:t>
            </a:r>
            <a:endParaRPr b="0">
              <a:solidFill>
                <a:srgbClr val="1F2937"/>
              </a:solidFill>
              <a:latin typeface="Be Vietnam Pro"/>
              <a:ea typeface="Be Vietnam Pro"/>
              <a:cs typeface="Be Vietnam Pro"/>
              <a:sym typeface="Be Vietnam Pr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pic>
        <p:nvPicPr>
          <p:cNvPr descr="image.png" id="333" name="Google Shape;333;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0"/>
          <p:cNvSpPr/>
          <p:nvPr/>
        </p:nvSpPr>
        <p:spPr>
          <a:xfrm>
            <a:off x="0" y="0"/>
            <a:ext cx="12192000" cy="5715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0"/>
          <p:cNvSpPr txBox="1"/>
          <p:nvPr/>
        </p:nvSpPr>
        <p:spPr>
          <a:xfrm>
            <a:off x="395287" y="2369790"/>
            <a:ext cx="11401500" cy="166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5400">
                <a:solidFill>
                  <a:srgbClr val="0B2239"/>
                </a:solidFill>
                <a:latin typeface="Be Vietnam Pro"/>
                <a:ea typeface="Be Vietnam Pro"/>
                <a:cs typeface="Be Vietnam Pro"/>
                <a:sym typeface="Be Vietnam Pro"/>
              </a:rPr>
              <a:t>Chiến lược và</a:t>
            </a:r>
            <a:endParaRPr b="1" sz="5400">
              <a:solidFill>
                <a:srgbClr val="0B2239"/>
              </a:solidFill>
              <a:latin typeface="Be Vietnam Pro"/>
              <a:ea typeface="Be Vietnam Pro"/>
              <a:cs typeface="Be Vietnam Pro"/>
              <a:sym typeface="Be Vietnam Pro"/>
            </a:endParaRPr>
          </a:p>
          <a:p>
            <a:pPr indent="0" lvl="0" marL="0" marR="0" rtl="0" algn="ctr">
              <a:spcBef>
                <a:spcPts val="0"/>
              </a:spcBef>
              <a:spcAft>
                <a:spcPts val="0"/>
              </a:spcAft>
              <a:buNone/>
            </a:pPr>
            <a:r>
              <a:rPr b="1" i="0" lang="en-US" sz="5400" u="none" cap="none" strike="noStrike">
                <a:solidFill>
                  <a:srgbClr val="0B2239"/>
                </a:solidFill>
                <a:latin typeface="Be Vietnam Pro"/>
                <a:ea typeface="Be Vietnam Pro"/>
                <a:cs typeface="Be Vietnam Pro"/>
                <a:sym typeface="Be Vietnam Pro"/>
              </a:rPr>
              <a:t>Kế Hoạch Thực Thi</a:t>
            </a:r>
            <a:endParaRPr>
              <a:latin typeface="Be Vietnam Pro"/>
              <a:ea typeface="Be Vietnam Pro"/>
              <a:cs typeface="Be Vietnam Pro"/>
              <a:sym typeface="Be Vietnam Pro"/>
            </a:endParaRPr>
          </a:p>
        </p:txBody>
      </p:sp>
      <p:sp>
        <p:nvSpPr>
          <p:cNvPr id="336" name="Google Shape;336;p30"/>
          <p:cNvSpPr txBox="1"/>
          <p:nvPr/>
        </p:nvSpPr>
        <p:spPr>
          <a:xfrm>
            <a:off x="666750" y="4353921"/>
            <a:ext cx="108585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i="0" lang="en-US" sz="1800" u="none" cap="none" strike="noStrike">
                <a:solidFill>
                  <a:srgbClr val="6B7280"/>
                </a:solidFill>
                <a:latin typeface="Be Vietnam Pro"/>
                <a:ea typeface="Be Vietnam Pro"/>
                <a:cs typeface="Be Vietnam Pro"/>
                <a:sym typeface="Be Vietnam Pro"/>
              </a:rPr>
              <a:t>Chuyển giao Insights thành h</a:t>
            </a:r>
            <a:r>
              <a:rPr lang="en-US" sz="1800">
                <a:solidFill>
                  <a:srgbClr val="6B7280"/>
                </a:solidFill>
                <a:latin typeface="Be Vietnam Pro"/>
                <a:ea typeface="Be Vietnam Pro"/>
                <a:cs typeface="Be Vietnam Pro"/>
                <a:sym typeface="Be Vietnam Pro"/>
              </a:rPr>
              <a:t>ành động để đề xuất</a:t>
            </a:r>
            <a:r>
              <a:rPr i="0" lang="en-US" sz="1800" u="none" cap="none" strike="noStrike">
                <a:solidFill>
                  <a:srgbClr val="6B7280"/>
                </a:solidFill>
                <a:latin typeface="Be Vietnam Pro"/>
                <a:ea typeface="Be Vietnam Pro"/>
                <a:cs typeface="Be Vietnam Pro"/>
                <a:sym typeface="Be Vietnam Pro"/>
              </a:rPr>
              <a:t> Task list cho </a:t>
            </a:r>
            <a:r>
              <a:rPr lang="en-US" sz="1800">
                <a:solidFill>
                  <a:srgbClr val="6B7280"/>
                </a:solidFill>
                <a:latin typeface="Be Vietnam Pro"/>
                <a:ea typeface="Be Vietnam Pro"/>
                <a:cs typeface="Be Vietnam Pro"/>
                <a:sym typeface="Be Vietnam Pro"/>
              </a:rPr>
              <a:t>Stakeholders</a:t>
            </a:r>
            <a:endParaRPr>
              <a:latin typeface="Be Vietnam Pro"/>
              <a:ea typeface="Be Vietnam Pro"/>
              <a:cs typeface="Be Vietnam Pro"/>
              <a:sym typeface="Be Vietnam Pro"/>
            </a:endParaRPr>
          </a:p>
        </p:txBody>
      </p:sp>
      <p:sp>
        <p:nvSpPr>
          <p:cNvPr id="337" name="Google Shape;337;p30"/>
          <p:cNvSpPr/>
          <p:nvPr/>
        </p:nvSpPr>
        <p:spPr>
          <a:xfrm>
            <a:off x="5715000" y="2263229"/>
            <a:ext cx="762000" cy="38100"/>
          </a:xfrm>
          <a:prstGeom prst="rect">
            <a:avLst/>
          </a:prstGeom>
          <a:solidFill>
            <a:srgbClr val="C92A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1"/>
          <p:cNvSpPr/>
          <p:nvPr/>
        </p:nvSpPr>
        <p:spPr>
          <a:xfrm>
            <a:off x="0" y="0"/>
            <a:ext cx="12192000" cy="6858000"/>
          </a:xfrm>
          <a:prstGeom prst="rect">
            <a:avLst/>
          </a:prstGeom>
          <a:solidFill>
            <a:srgbClr val="F9FAF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3" name="Google Shape;343;p31"/>
          <p:cNvSpPr/>
          <p:nvPr/>
        </p:nvSpPr>
        <p:spPr>
          <a:xfrm>
            <a:off x="0" y="0"/>
            <a:ext cx="12192000" cy="57300"/>
          </a:xfrm>
          <a:prstGeom prst="rect">
            <a:avLst/>
          </a:prstGeom>
          <a:solidFill>
            <a:srgbClr val="0B223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31"/>
          <p:cNvSpPr txBox="1"/>
          <p:nvPr/>
        </p:nvSpPr>
        <p:spPr>
          <a:xfrm>
            <a:off x="666750" y="476250"/>
            <a:ext cx="10858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B2239"/>
                </a:solidFill>
                <a:latin typeface="Be Vietnam Pro"/>
                <a:ea typeface="Be Vietnam Pro"/>
                <a:cs typeface="Be Vietnam Pro"/>
                <a:sym typeface="Be Vietnam Pro"/>
              </a:rPr>
              <a:t>Kế Hoạch Thực Thi &amp; Chuyển Giao</a:t>
            </a:r>
            <a:endParaRPr b="1" sz="2800">
              <a:solidFill>
                <a:srgbClr val="0B2239"/>
              </a:solidFill>
              <a:latin typeface="Be Vietnam Pro"/>
              <a:ea typeface="Be Vietnam Pro"/>
              <a:cs typeface="Be Vietnam Pro"/>
              <a:sym typeface="Be Vietnam Pro"/>
            </a:endParaRPr>
          </a:p>
        </p:txBody>
      </p:sp>
      <p:sp>
        <p:nvSpPr>
          <p:cNvPr id="345" name="Google Shape;345;p31"/>
          <p:cNvSpPr/>
          <p:nvPr/>
        </p:nvSpPr>
        <p:spPr>
          <a:xfrm>
            <a:off x="666750" y="1143000"/>
            <a:ext cx="10858500" cy="9600"/>
          </a:xfrm>
          <a:prstGeom prst="rect">
            <a:avLst/>
          </a:prstGeom>
          <a:solidFill>
            <a:srgbClr val="E5E7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6" name="Google Shape;346;p31"/>
          <p:cNvGrpSpPr/>
          <p:nvPr/>
        </p:nvGrpSpPr>
        <p:grpSpPr>
          <a:xfrm>
            <a:off x="666750" y="1524000"/>
            <a:ext cx="3429000" cy="4572000"/>
            <a:chOff x="0" y="0"/>
            <a:chExt cx="3429000" cy="4572000"/>
          </a:xfrm>
        </p:grpSpPr>
        <p:sp>
          <p:nvSpPr>
            <p:cNvPr id="347" name="Google Shape;347;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workspace with a smartphone showing a clean UI design, focused on a checkout screen, modern and sleek aesthetic." id="348" name="Google Shape;348;p31"/>
            <p:cNvPicPr preferRelativeResize="0"/>
            <p:nvPr/>
          </p:nvPicPr>
          <p:blipFill rotWithShape="1">
            <a:blip r:embed="rId4">
              <a:alphaModFix/>
            </a:blip>
            <a:srcRect b="0" l="3976" r="3976" t="0"/>
            <a:stretch/>
          </p:blipFill>
          <p:spPr>
            <a:xfrm>
              <a:off x="0" y="0"/>
              <a:ext cx="3429000" cy="2095500"/>
            </a:xfrm>
            <a:prstGeom prst="roundRect">
              <a:avLst>
                <a:gd fmla="val 5454" name="adj"/>
              </a:avLst>
            </a:prstGeom>
            <a:noFill/>
            <a:ln>
              <a:noFill/>
            </a:ln>
          </p:spPr>
        </p:pic>
        <p:sp>
          <p:nvSpPr>
            <p:cNvPr id="349" name="Google Shape;349;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1. Tái Thiết Kế Mobile UX</a:t>
              </a:r>
              <a:endParaRPr b="1" sz="1600">
                <a:solidFill>
                  <a:srgbClr val="0B2239"/>
                </a:solidFill>
                <a:latin typeface="Be Vietnam Pro"/>
                <a:ea typeface="Be Vietnam Pro"/>
                <a:cs typeface="Be Vietnam Pro"/>
                <a:sym typeface="Be Vietnam Pro"/>
              </a:endParaRPr>
            </a:p>
          </p:txBody>
        </p:sp>
        <p:sp>
          <p:nvSpPr>
            <p:cNvPr id="350" name="Google Shape;350;p31"/>
            <p:cNvSpPr txBox="1"/>
            <p:nvPr/>
          </p:nvSpPr>
          <p:spPr>
            <a:xfrm>
              <a:off x="190500" y="2762250"/>
              <a:ext cx="3048000" cy="13026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Tối ưu hóa giao diện Mobile tại trang /billing. Tích hợp </a:t>
              </a:r>
              <a:r>
                <a:rPr lang="en-US">
                  <a:solidFill>
                    <a:srgbClr val="4B5563"/>
                  </a:solidFill>
                  <a:latin typeface="Be Vietnam Pro"/>
                  <a:ea typeface="Be Vietnam Pro"/>
                  <a:cs typeface="Be Vietnam Pro"/>
                  <a:sym typeface="Be Vietnam Pro"/>
                </a:rPr>
                <a:t>các ví như</a:t>
              </a:r>
              <a:r>
                <a:rPr b="0" lang="en-US">
                  <a:solidFill>
                    <a:srgbClr val="4B5563"/>
                  </a:solidFill>
                  <a:latin typeface="Be Vietnam Pro"/>
                  <a:ea typeface="Be Vietnam Pro"/>
                  <a:cs typeface="Be Vietnam Pro"/>
                  <a:sym typeface="Be Vietnam Pro"/>
                </a:rPr>
                <a:t> Apple/Google</a:t>
              </a:r>
              <a:r>
                <a:rPr b="0" lang="en-US">
                  <a:solidFill>
                    <a:srgbClr val="4B5563"/>
                  </a:solidFill>
                  <a:latin typeface="Be Vietnam Pro"/>
                  <a:ea typeface="Be Vietnam Pro"/>
                  <a:cs typeface="Be Vietnam Pro"/>
                  <a:sym typeface="Be Vietnam Pro"/>
                </a:rPr>
                <a:t> </a:t>
              </a:r>
              <a:r>
                <a:rPr b="0" lang="en-US">
                  <a:solidFill>
                    <a:srgbClr val="4B5563"/>
                  </a:solidFill>
                  <a:latin typeface="Be Vietnam Pro"/>
                  <a:ea typeface="Be Vietnam Pro"/>
                  <a:cs typeface="Be Vietnam Pro"/>
                  <a:sym typeface="Be Vietnam Pro"/>
                </a:rPr>
                <a:t>Pay tại vị trí thuận lợi để giảm ma sát thanh toán và tăng tỷ lệ chuyển đổi cho người dùng di động.</a:t>
              </a:r>
              <a:endParaRPr b="0">
                <a:solidFill>
                  <a:srgbClr val="4B5563"/>
                </a:solidFill>
                <a:latin typeface="Be Vietnam Pro"/>
                <a:ea typeface="Be Vietnam Pro"/>
                <a:cs typeface="Be Vietnam Pro"/>
                <a:sym typeface="Be Vietnam Pro"/>
              </a:endParaRPr>
            </a:p>
          </p:txBody>
        </p:sp>
        <p:sp>
          <p:nvSpPr>
            <p:cNvPr id="351" name="Google Shape;351;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PRODUCT TEAM</a:t>
              </a:r>
              <a:endParaRPr b="1" sz="1400">
                <a:solidFill>
                  <a:srgbClr val="C92A2A"/>
                </a:solidFill>
                <a:latin typeface="Be Vietnam Pro"/>
                <a:ea typeface="Be Vietnam Pro"/>
                <a:cs typeface="Be Vietnam Pro"/>
                <a:sym typeface="Be Vietnam Pro"/>
              </a:endParaRPr>
            </a:p>
          </p:txBody>
        </p:sp>
      </p:grpSp>
      <p:grpSp>
        <p:nvGrpSpPr>
          <p:cNvPr id="352" name="Google Shape;352;p31"/>
          <p:cNvGrpSpPr/>
          <p:nvPr/>
        </p:nvGrpSpPr>
        <p:grpSpPr>
          <a:xfrm>
            <a:off x="4381500" y="1524000"/>
            <a:ext cx="3429000" cy="4572000"/>
            <a:chOff x="0" y="0"/>
            <a:chExt cx="3429000" cy="4572000"/>
          </a:xfrm>
        </p:grpSpPr>
        <p:sp>
          <p:nvSpPr>
            <p:cNvPr id="353" name="Google Shape;353;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high-quality photo of two complementary gift products arranged together, like a teddy bear and a gift box, in a warm, inviting studio lighting." id="354" name="Google Shape;354;p31"/>
            <p:cNvPicPr preferRelativeResize="0"/>
            <p:nvPr/>
          </p:nvPicPr>
          <p:blipFill rotWithShape="1">
            <a:blip r:embed="rId5">
              <a:alphaModFix/>
            </a:blip>
            <a:srcRect b="0" l="3976" r="3976" t="0"/>
            <a:stretch/>
          </p:blipFill>
          <p:spPr>
            <a:xfrm>
              <a:off x="0" y="0"/>
              <a:ext cx="3429000" cy="2095500"/>
            </a:xfrm>
            <a:prstGeom prst="roundRect">
              <a:avLst>
                <a:gd fmla="val 5454" name="adj"/>
              </a:avLst>
            </a:prstGeom>
            <a:noFill/>
            <a:ln>
              <a:noFill/>
            </a:ln>
          </p:spPr>
        </p:pic>
        <p:sp>
          <p:nvSpPr>
            <p:cNvPr id="355" name="Google Shape;355;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2. Triển Khai Bundle/Upsell</a:t>
              </a:r>
              <a:endParaRPr b="1" sz="1600">
                <a:solidFill>
                  <a:srgbClr val="0B2239"/>
                </a:solidFill>
                <a:latin typeface="Be Vietnam Pro"/>
                <a:ea typeface="Be Vietnam Pro"/>
                <a:cs typeface="Be Vietnam Pro"/>
                <a:sym typeface="Be Vietnam Pro"/>
              </a:endParaRPr>
            </a:p>
          </p:txBody>
        </p:sp>
        <p:sp>
          <p:nvSpPr>
            <p:cNvPr id="356" name="Google Shape;356;p31"/>
            <p:cNvSpPr txBox="1"/>
            <p:nvPr/>
          </p:nvSpPr>
          <p:spPr>
            <a:xfrm>
              <a:off x="190500" y="2762250"/>
              <a:ext cx="3048000" cy="13080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Cài đặt cơ chế gợi ý tự động: khi mua "Mr. Fuzzy", popup giảm giá</a:t>
              </a:r>
              <a:r>
                <a:rPr b="0" lang="en-US">
                  <a:solidFill>
                    <a:srgbClr val="4B5563"/>
                  </a:solidFill>
                  <a:latin typeface="Be Vietnam Pro"/>
                  <a:ea typeface="Be Vietnam Pro"/>
                  <a:cs typeface="Be Vietnam Pro"/>
                  <a:sym typeface="Be Vietnam Pro"/>
                </a:rPr>
                <a:t> </a:t>
              </a:r>
              <a:r>
                <a:rPr lang="en-US">
                  <a:solidFill>
                    <a:srgbClr val="4B5563"/>
                  </a:solidFill>
                  <a:latin typeface="Be Vietnam Pro"/>
                  <a:ea typeface="Be Vietnam Pro"/>
                  <a:cs typeface="Be Vietnam Pro"/>
                  <a:sym typeface="Be Vietnam Pro"/>
                </a:rPr>
                <a:t>5-1</a:t>
              </a:r>
              <a:r>
                <a:rPr b="0" lang="en-US">
                  <a:solidFill>
                    <a:srgbClr val="4B5563"/>
                  </a:solidFill>
                  <a:latin typeface="Be Vietnam Pro"/>
                  <a:ea typeface="Be Vietnam Pro"/>
                  <a:cs typeface="Be Vietnam Pro"/>
                  <a:sym typeface="Be Vietnam Pro"/>
                </a:rPr>
                <a:t>0% </a:t>
              </a:r>
              <a:r>
                <a:rPr b="0" lang="en-US">
                  <a:solidFill>
                    <a:srgbClr val="4B5563"/>
                  </a:solidFill>
                  <a:latin typeface="Be Vietnam Pro"/>
                  <a:ea typeface="Be Vietnam Pro"/>
                  <a:cs typeface="Be Vietnam Pro"/>
                  <a:sym typeface="Be Vietnam Pro"/>
                </a:rPr>
                <a:t>cho "Hudson Mini Bear" khi mua k</a:t>
              </a:r>
              <a:r>
                <a:rPr lang="en-US">
                  <a:solidFill>
                    <a:srgbClr val="4B5563"/>
                  </a:solidFill>
                  <a:latin typeface="Be Vietnam Pro"/>
                  <a:ea typeface="Be Vietnam Pro"/>
                  <a:cs typeface="Be Vietnam Pro"/>
                  <a:sym typeface="Be Vietnam Pro"/>
                </a:rPr>
                <a:t>èm</a:t>
              </a:r>
              <a:r>
                <a:rPr b="0" lang="en-US">
                  <a:solidFill>
                    <a:srgbClr val="4B5563"/>
                  </a:solidFill>
                  <a:latin typeface="Be Vietnam Pro"/>
                  <a:ea typeface="Be Vietnam Pro"/>
                  <a:cs typeface="Be Vietnam Pro"/>
                  <a:sym typeface="Be Vietnam Pro"/>
                </a:rPr>
                <a:t>. Tập trung vào các sản phẩm có biên lợi nhuận cao để tối ưu AOV.</a:t>
              </a:r>
              <a:endParaRPr b="0">
                <a:solidFill>
                  <a:srgbClr val="4B5563"/>
                </a:solidFill>
                <a:latin typeface="Be Vietnam Pro"/>
                <a:ea typeface="Be Vietnam Pro"/>
                <a:cs typeface="Be Vietnam Pro"/>
                <a:sym typeface="Be Vietnam Pro"/>
              </a:endParaRPr>
            </a:p>
          </p:txBody>
        </p:sp>
        <p:sp>
          <p:nvSpPr>
            <p:cNvPr id="357" name="Google Shape;357;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MARKETING &amp; DEV</a:t>
              </a:r>
              <a:endParaRPr b="1" sz="1400">
                <a:solidFill>
                  <a:srgbClr val="C92A2A"/>
                </a:solidFill>
                <a:latin typeface="Be Vietnam Pro"/>
                <a:ea typeface="Be Vietnam Pro"/>
                <a:cs typeface="Be Vietnam Pro"/>
                <a:sym typeface="Be Vietnam Pro"/>
              </a:endParaRPr>
            </a:p>
          </p:txBody>
        </p:sp>
      </p:grpSp>
      <p:grpSp>
        <p:nvGrpSpPr>
          <p:cNvPr id="358" name="Google Shape;358;p31"/>
          <p:cNvGrpSpPr/>
          <p:nvPr/>
        </p:nvGrpSpPr>
        <p:grpSpPr>
          <a:xfrm>
            <a:off x="8096250" y="1524000"/>
            <a:ext cx="3429000" cy="4572000"/>
            <a:chOff x="0" y="0"/>
            <a:chExt cx="3429000" cy="4572000"/>
          </a:xfrm>
        </p:grpSpPr>
        <p:sp>
          <p:nvSpPr>
            <p:cNvPr id="359" name="Google Shape;359;p31"/>
            <p:cNvSpPr/>
            <p:nvPr/>
          </p:nvSpPr>
          <p:spPr>
            <a:xfrm>
              <a:off x="0" y="0"/>
              <a:ext cx="3429000" cy="4572000"/>
            </a:xfrm>
            <a:prstGeom prst="roundRect">
              <a:avLst>
                <a:gd fmla="val 3333" name="adj"/>
              </a:avLst>
            </a:prstGeom>
            <a:solidFill>
              <a:srgbClr val="FFFFFF"/>
            </a:solidFill>
            <a:ln cap="flat" cmpd="sng" w="9525">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conceptual image of digital marketing analytics, showing growth charts and target symbols, clean corporate style with blue and white tones." id="360" name="Google Shape;360;p31"/>
            <p:cNvPicPr preferRelativeResize="0"/>
            <p:nvPr/>
          </p:nvPicPr>
          <p:blipFill rotWithShape="1">
            <a:blip r:embed="rId6">
              <a:alphaModFix/>
            </a:blip>
            <a:srcRect b="0" l="3976" r="3976" t="0"/>
            <a:stretch/>
          </p:blipFill>
          <p:spPr>
            <a:xfrm>
              <a:off x="0" y="0"/>
              <a:ext cx="3429000" cy="2095500"/>
            </a:xfrm>
            <a:prstGeom prst="roundRect">
              <a:avLst>
                <a:gd fmla="val 5454" name="adj"/>
              </a:avLst>
            </a:prstGeom>
            <a:noFill/>
            <a:ln>
              <a:noFill/>
            </a:ln>
          </p:spPr>
        </p:pic>
        <p:sp>
          <p:nvSpPr>
            <p:cNvPr id="361" name="Google Shape;361;p31"/>
            <p:cNvSpPr txBox="1"/>
            <p:nvPr/>
          </p:nvSpPr>
          <p:spPr>
            <a:xfrm>
              <a:off x="190500" y="2286000"/>
              <a:ext cx="3048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600">
                  <a:solidFill>
                    <a:srgbClr val="0B2239"/>
                  </a:solidFill>
                  <a:latin typeface="Be Vietnam Pro"/>
                  <a:ea typeface="Be Vietnam Pro"/>
                  <a:cs typeface="Be Vietnam Pro"/>
                  <a:sym typeface="Be Vietnam Pro"/>
                </a:rPr>
                <a:t>3. Cắt Giảm CAC Mobile</a:t>
              </a:r>
              <a:endParaRPr b="1" sz="1600">
                <a:solidFill>
                  <a:srgbClr val="0B2239"/>
                </a:solidFill>
                <a:latin typeface="Be Vietnam Pro"/>
                <a:ea typeface="Be Vietnam Pro"/>
                <a:cs typeface="Be Vietnam Pro"/>
                <a:sym typeface="Be Vietnam Pro"/>
              </a:endParaRPr>
            </a:p>
          </p:txBody>
        </p:sp>
        <p:sp>
          <p:nvSpPr>
            <p:cNvPr id="362" name="Google Shape;362;p31"/>
            <p:cNvSpPr txBox="1"/>
            <p:nvPr/>
          </p:nvSpPr>
          <p:spPr>
            <a:xfrm>
              <a:off x="190500" y="2762250"/>
              <a:ext cx="3048000" cy="13131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b="0" lang="en-US">
                  <a:solidFill>
                    <a:srgbClr val="4B5563"/>
                  </a:solidFill>
                  <a:latin typeface="Be Vietnam Pro"/>
                  <a:ea typeface="Be Vietnam Pro"/>
                  <a:cs typeface="Be Vietnam Pro"/>
                  <a:sym typeface="Be Vietnam Pro"/>
                </a:rPr>
                <a:t>Điều chỉnh ngân sách Ads: Giảm 50% thầu từ khóa "Nonbrand" trên Mobile. Dồn ngân sách bảo vệ vị trí Top 1 Desktop Search để đảm bảo hiệu quả ROI.</a:t>
              </a:r>
              <a:endParaRPr b="0">
                <a:solidFill>
                  <a:srgbClr val="4B5563"/>
                </a:solidFill>
                <a:latin typeface="Be Vietnam Pro"/>
                <a:ea typeface="Be Vietnam Pro"/>
                <a:cs typeface="Be Vietnam Pro"/>
                <a:sym typeface="Be Vietnam Pro"/>
              </a:endParaRPr>
            </a:p>
          </p:txBody>
        </p:sp>
        <p:sp>
          <p:nvSpPr>
            <p:cNvPr id="363" name="Google Shape;363;p31"/>
            <p:cNvSpPr txBox="1"/>
            <p:nvPr/>
          </p:nvSpPr>
          <p:spPr>
            <a:xfrm>
              <a:off x="190500" y="4191000"/>
              <a:ext cx="3048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C92A2A"/>
                  </a:solidFill>
                  <a:latin typeface="Be Vietnam Pro"/>
                  <a:ea typeface="Be Vietnam Pro"/>
                  <a:cs typeface="Be Vietnam Pro"/>
                  <a:sym typeface="Be Vietnam Pro"/>
                </a:rPr>
                <a:t>PERFORMANCE MEDIA</a:t>
              </a:r>
              <a:endParaRPr b="1" sz="1400">
                <a:solidFill>
                  <a:srgbClr val="C92A2A"/>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pic>
        <p:nvPicPr>
          <p:cNvPr descr="image.png" id="368" name="Google Shape;368;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9" name="Google Shape;369;p32"/>
          <p:cNvSpPr/>
          <p:nvPr/>
        </p:nvSpPr>
        <p:spPr>
          <a:xfrm>
            <a:off x="0" y="0"/>
            <a:ext cx="12192000" cy="57300"/>
          </a:xfrm>
          <a:prstGeom prst="rect">
            <a:avLst/>
          </a:prstGeom>
          <a:solidFill>
            <a:srgbClr val="0B22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2"/>
          <p:cNvSpPr txBox="1"/>
          <p:nvPr/>
        </p:nvSpPr>
        <p:spPr>
          <a:xfrm>
            <a:off x="1047750" y="3119253"/>
            <a:ext cx="10601400" cy="619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lang="en-US" sz="4024">
                <a:solidFill>
                  <a:srgbClr val="0B2239"/>
                </a:solidFill>
                <a:latin typeface="Be Vietnam Pro"/>
                <a:ea typeface="Be Vietnam Pro"/>
                <a:cs typeface="Be Vietnam Pro"/>
                <a:sym typeface="Be Vietnam Pro"/>
              </a:rPr>
              <a:t>Xin chân thành cảm ơn!</a:t>
            </a:r>
            <a:endParaRPr b="1" sz="4024">
              <a:solidFill>
                <a:srgbClr val="0B2239"/>
              </a:solidFill>
              <a:latin typeface="Be Vietnam Pro"/>
              <a:ea typeface="Be Vietnam Pro"/>
              <a:cs typeface="Be Vietnam Pro"/>
              <a:sym typeface="Be Vietnam Pro"/>
            </a:endParaRPr>
          </a:p>
        </p:txBody>
      </p:sp>
      <p:sp>
        <p:nvSpPr>
          <p:cNvPr id="371" name="Google Shape;371;p32"/>
          <p:cNvSpPr txBox="1"/>
          <p:nvPr/>
        </p:nvSpPr>
        <p:spPr>
          <a:xfrm>
            <a:off x="666750" y="6572260"/>
            <a:ext cx="108585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C92A2A"/>
                </a:solidFill>
                <a:latin typeface="Be Vietnam Pro SemiBold"/>
                <a:ea typeface="Be Vietnam Pro SemiBold"/>
                <a:cs typeface="Be Vietnam Pro SemiBold"/>
                <a:sym typeface="Be Vietnam Pro SemiBold"/>
              </a:rPr>
              <a:t>Hanoi 2026.</a:t>
            </a:r>
            <a:endParaRPr sz="1200">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